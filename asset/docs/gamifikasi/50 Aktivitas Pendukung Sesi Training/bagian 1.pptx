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8229600" cx="14630400"/>
  <p:notesSz cx="8229600" cy="14630400"/>
  <p:embeddedFontLst>
    <p:embeddedFont>
      <p:font typeface="Tomorrow"/>
      <p:regular r:id="rId25"/>
      <p:bold r:id="rId26"/>
      <p:italic r:id="rId27"/>
      <p:boldItalic r:id="rId28"/>
    </p:embeddedFont>
    <p:embeddedFont>
      <p:font typeface="Tomorrow SemiBold"/>
      <p:regular r:id="rId29"/>
      <p:bold r:id="rId30"/>
      <p:italic r:id="rId31"/>
      <p:boldItalic r:id="rId32"/>
    </p:embeddedFont>
    <p:embeddedFont>
      <p:font typeface="Tomorrow Ligh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iZHbisN0fiOEce3I1NjaCy32u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Tomorrow-bold.fntdata"/><Relationship Id="rId25" Type="http://schemas.openxmlformats.org/officeDocument/2006/relationships/font" Target="fonts/Tomorrow-regular.fntdata"/><Relationship Id="rId28" Type="http://schemas.openxmlformats.org/officeDocument/2006/relationships/font" Target="fonts/Tomorrow-boldItalic.fntdata"/><Relationship Id="rId27" Type="http://schemas.openxmlformats.org/officeDocument/2006/relationships/font" Target="fonts/Tomorrow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omorrowSemiBold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omorrowSemiBold-italic.fntdata"/><Relationship Id="rId30" Type="http://schemas.openxmlformats.org/officeDocument/2006/relationships/font" Target="fonts/TomorrowSemiBold-bold.fntdata"/><Relationship Id="rId11" Type="http://schemas.openxmlformats.org/officeDocument/2006/relationships/slide" Target="slides/slide7.xml"/><Relationship Id="rId33" Type="http://schemas.openxmlformats.org/officeDocument/2006/relationships/font" Target="fonts/TomorrowLight-regular.fntdata"/><Relationship Id="rId10" Type="http://schemas.openxmlformats.org/officeDocument/2006/relationships/slide" Target="slides/slide6.xml"/><Relationship Id="rId32" Type="http://schemas.openxmlformats.org/officeDocument/2006/relationships/font" Target="fonts/TomorrowSemiBold-boldItalic.fntdata"/><Relationship Id="rId13" Type="http://schemas.openxmlformats.org/officeDocument/2006/relationships/slide" Target="slides/slide9.xml"/><Relationship Id="rId35" Type="http://schemas.openxmlformats.org/officeDocument/2006/relationships/font" Target="fonts/TomorrowLight-italic.fntdata"/><Relationship Id="rId12" Type="http://schemas.openxmlformats.org/officeDocument/2006/relationships/slide" Target="slides/slide8.xml"/><Relationship Id="rId34" Type="http://schemas.openxmlformats.org/officeDocument/2006/relationships/font" Target="fonts/TomorrowLight-bold.fntdata"/><Relationship Id="rId15" Type="http://schemas.openxmlformats.org/officeDocument/2006/relationships/slide" Target="slides/slide11.xml"/><Relationship Id="rId37" Type="http://customschemas.google.com/relationships/presentationmetadata" Target="metadata"/><Relationship Id="rId14" Type="http://schemas.openxmlformats.org/officeDocument/2006/relationships/slide" Target="slides/slide10.xml"/><Relationship Id="rId36" Type="http://schemas.openxmlformats.org/officeDocument/2006/relationships/font" Target="fonts/TomorrowLigh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keputusan penting yang kamu buat?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perilaku efektif yang muncul?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yang akan kamu lakukan berbeda jika situasi nyata?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proses tim dalam menemukan solusi?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Siapa yang memimpin natural?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Hambatan apa yang muncul?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hal menarik yang kamu pelajari dari orang lain?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aktivitas ini membantu mencairkan suasana?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Apakah instruksi kamu jelas?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noise/ gangguan memengaruhi komunikasi?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Strategi apa yang dipilih leader?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Apakah anggota merasa terlibat?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bias yang sering muncul tanpa disadari?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perbedaan dapat memperkuat tim?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Tugas mana yang paling penting?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Apakah keputusan diambil cepat atau lambat?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Kekuatan apa yang paling membantu tim selama training?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peran ideal kamu?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perspektif orang lain memperkaya pemahamanmu?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rasanya menyerahkan kontrol pada orang lain?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 kondisi yang menciptakan trust?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Refleksi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Apakah semua anggota berkontribusi?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Bagaimana tim mencapai keputusan final?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"/>
          <p:cNvSpPr/>
          <p:nvPr/>
        </p:nvSpPr>
        <p:spPr>
          <a:xfrm>
            <a:off x="793789" y="1720581"/>
            <a:ext cx="7556400" cy="21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625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4800"/>
              <a:buFont typeface="Tomorrow SemiBold"/>
              <a:buNone/>
            </a:pPr>
            <a:r>
              <a:rPr b="1" i="0" lang="en-US" sz="48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Kumpulan Aktivitas Pendukung Sesi Training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679290" y="4284171"/>
            <a:ext cx="75564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5416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Bikin training kamu impactful, seru dan ga ngebosenin (bagian 1).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46720" y="0"/>
            <a:ext cx="6583680" cy="824329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"/>
          <p:cNvSpPr/>
          <p:nvPr/>
        </p:nvSpPr>
        <p:spPr>
          <a:xfrm>
            <a:off x="761399" y="598300"/>
            <a:ext cx="65238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Tomorrow SemiBold"/>
              <a:buNone/>
            </a:pPr>
            <a:r>
              <a:rPr b="1" i="0" lang="en-US" sz="27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27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1. Role-Playing Scenarios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61405" y="1275040"/>
            <a:ext cx="6523911" cy="852726"/>
          </a:xfrm>
          <a:prstGeom prst="roundRect">
            <a:avLst>
              <a:gd fmla="val 2488" name="adj"/>
            </a:avLst>
          </a:prstGeom>
          <a:solidFill>
            <a:srgbClr val="FCFCFC"/>
          </a:solidFill>
          <a:ln cap="flat" cmpd="sng" w="15225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917972" y="1431608"/>
            <a:ext cx="17676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omorrow SemiBold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13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917972" y="1744980"/>
            <a:ext cx="6210776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Melatih komunikasi, problem-solving, decision making, dan empati dalam situasi kerja.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61405" y="2269093"/>
            <a:ext cx="6523911" cy="852726"/>
          </a:xfrm>
          <a:prstGeom prst="roundRect">
            <a:avLst>
              <a:gd fmla="val 2488" name="adj"/>
            </a:avLst>
          </a:prstGeom>
          <a:solidFill>
            <a:srgbClr val="FCFCFC"/>
          </a:solidFill>
          <a:ln cap="flat" cmpd="sng" w="15225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917972" y="2425660"/>
            <a:ext cx="17676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omorrow SemiBold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⏱</a:t>
            </a:r>
            <a:r>
              <a:rPr b="1" i="0" lang="en-US" sz="13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Durasi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917972" y="2739033"/>
            <a:ext cx="6210776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10–20 menit per skenario.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761405" y="3263146"/>
            <a:ext cx="6523911" cy="852726"/>
          </a:xfrm>
          <a:prstGeom prst="roundRect">
            <a:avLst>
              <a:gd fmla="val 2488" name="adj"/>
            </a:avLst>
          </a:prstGeom>
          <a:solidFill>
            <a:srgbClr val="FCFCFC"/>
          </a:solidFill>
          <a:ln cap="flat" cmpd="sng" w="15225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917972" y="3419713"/>
            <a:ext cx="17676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omorrow SemiBold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👥</a:t>
            </a:r>
            <a:r>
              <a:rPr b="1" i="0" lang="en-US" sz="13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Peserta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917972" y="3733086"/>
            <a:ext cx="6210776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2–6 orang per kelompok.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761405" y="4257199"/>
            <a:ext cx="6523911" cy="852726"/>
          </a:xfrm>
          <a:prstGeom prst="roundRect">
            <a:avLst>
              <a:gd fmla="val 2488" name="adj"/>
            </a:avLst>
          </a:prstGeom>
          <a:solidFill>
            <a:srgbClr val="FCFCFC"/>
          </a:solidFill>
          <a:ln cap="flat" cmpd="sng" w="15225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917972" y="4413766"/>
            <a:ext cx="17676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Tomorrow SemiBold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🧰</a:t>
            </a:r>
            <a:r>
              <a:rPr b="1" i="0" lang="en-US" sz="13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Alat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917972" y="4727138"/>
            <a:ext cx="6210776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None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Skenario tertulis (opsional).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761405" y="5321975"/>
            <a:ext cx="2206585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1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761405" y="5814417"/>
            <a:ext cx="6523911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membagi peserta ke dalam kelompok kecil.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761405" y="6090047"/>
            <a:ext cx="6523911" cy="452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Berikan skenario kerja—misalnya menghadapi klien marah, konflik internal tim, atau negosiasi.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761405" y="6591895"/>
            <a:ext cx="6523911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Tentukan peran (A sebagai supervisor, B sebagai staf, dll.).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61405" y="6867525"/>
            <a:ext cx="6523911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memainkan skenario selama 3–5 menit.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61405" y="7143155"/>
            <a:ext cx="6523911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atau kelompok lain menjadi observer.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61405" y="7418784"/>
            <a:ext cx="6523911" cy="226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00"/>
              <a:buFont typeface="Tomorrow"/>
              <a:buChar char="•"/>
            </a:pPr>
            <a:r>
              <a:rPr b="0" i="0" lang="en-US" sz="11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Setelah roleplay selesai, lakukan debrief singkat.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793790" y="675799"/>
            <a:ext cx="7481768" cy="66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omorrow SemiBold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0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2. Group Problem-Solving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793790" y="1854398"/>
            <a:ext cx="3062168" cy="40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4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93790" y="2464118"/>
            <a:ext cx="6272451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Membangun kemampuan kolaborasi, analisis masalah, dan strategi tim.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93790" y="3321606"/>
            <a:ext cx="3062168" cy="40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⏱</a:t>
            </a:r>
            <a:r>
              <a:rPr b="1" i="0" lang="en-US" sz="24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Durasi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793790" y="3931325"/>
            <a:ext cx="6272451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20–30 menit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1780" y="1879878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793790" y="4671298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 Light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93790" y="4995267"/>
            <a:ext cx="6419374" cy="228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93790" y="5143024"/>
            <a:ext cx="2653784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omorrow SemiBold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0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93790" y="5591889"/>
            <a:ext cx="6419374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Berikan kasus/problem (misal: keterlambatan proyek, proses kerja tidak efisien).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417237" y="4671298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 Light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417237" y="4995267"/>
            <a:ext cx="6419374" cy="228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417237" y="5143024"/>
            <a:ext cx="64193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Kelompok mendiskusikan penyebab utama masalah.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93790" y="6602373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 Light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93790" y="6926342"/>
            <a:ext cx="6419374" cy="228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93790" y="7074098"/>
            <a:ext cx="64193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Mereka membuat alternatif solusi dalam waktu terbatas.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7417237" y="6602373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 Light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7417237" y="6926342"/>
            <a:ext cx="6419374" cy="2286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417237" y="7074098"/>
            <a:ext cx="6419374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Presentasikan solusi ke kelompok besar.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793790" y="735568"/>
            <a:ext cx="6606064" cy="625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Tomorrow SemiBold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37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3. Team Building Games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793790" y="1746409"/>
            <a:ext cx="6424970" cy="1862257"/>
          </a:xfrm>
          <a:prstGeom prst="roundRect">
            <a:avLst>
              <a:gd fmla="val 1553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86552" y="1939171"/>
            <a:ext cx="2409944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Tomorrow SemiBold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18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86552" y="2371249"/>
            <a:ext cx="6039445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Menguatkan kepercayaan, koordinasi, dan komunikasi.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7411522" y="1746409"/>
            <a:ext cx="6425089" cy="1862257"/>
          </a:xfrm>
          <a:prstGeom prst="roundRect">
            <a:avLst>
              <a:gd fmla="val 1553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604284" y="1939171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50"/>
              <a:buFont typeface="Tomorrow SemiBold"/>
              <a:buNone/>
            </a:pPr>
            <a:r>
              <a:rPr b="1" i="0" lang="en-US" sz="18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Contoh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604284" y="2356009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Char char="•"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Human Knot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604284" y="2731770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Char char="•"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Tower Building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7604284" y="3107531"/>
            <a:ext cx="6039564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Char char="•"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Blindfold Navigator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93790" y="3897868"/>
            <a:ext cx="2892028" cy="376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Tomorrow SemiBold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2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 singkat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4563785"/>
            <a:ext cx="6521410" cy="77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4"/>
          <p:cNvSpPr/>
          <p:nvPr/>
        </p:nvSpPr>
        <p:spPr>
          <a:xfrm>
            <a:off x="986552" y="5527715"/>
            <a:ext cx="613588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menjelaskan aturan sederhana.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4563785"/>
            <a:ext cx="6521410" cy="77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7507962" y="5527715"/>
            <a:ext cx="613588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Berikan tantangan tim (misal membangun menara dari kertas).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6028849"/>
            <a:ext cx="6521410" cy="77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4"/>
          <p:cNvSpPr/>
          <p:nvPr/>
        </p:nvSpPr>
        <p:spPr>
          <a:xfrm>
            <a:off x="986552" y="6992779"/>
            <a:ext cx="613588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Tim mencoba menyelesaikan tantangan.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0" y="6028849"/>
            <a:ext cx="6521410" cy="77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7507962" y="6992779"/>
            <a:ext cx="6135886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Lakukan evaluasi proses kerja sama.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85216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6645950" y="725329"/>
            <a:ext cx="6680597" cy="66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omorrow SemiBold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0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4. Group Presentations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441875" y="2055730"/>
            <a:ext cx="7190700" cy="1724700"/>
          </a:xfrm>
          <a:prstGeom prst="roundRect">
            <a:avLst>
              <a:gd fmla="val 1775" name="adj"/>
            </a:avLst>
          </a:prstGeom>
          <a:solidFill>
            <a:srgbClr val="DADAD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0023" y="1982986"/>
            <a:ext cx="318968" cy="2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/>
          <p:nvPr/>
        </p:nvSpPr>
        <p:spPr>
          <a:xfrm>
            <a:off x="7373064" y="1954887"/>
            <a:ext cx="2551748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omorrow SemiBold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 Tujuan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373064" y="2485430"/>
            <a:ext cx="6259473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Melatih komunikasi, leadership, dan kemampuan menyampaikan 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645950" y="3730704"/>
            <a:ext cx="3185279" cy="405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4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645950" y="4442460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722447" y="4480679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309247" y="4508778"/>
            <a:ext cx="6527363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Bagi peserta dalam kelompok 3–5 orang.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645950" y="5309949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722447" y="5348168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309247" y="5376267"/>
            <a:ext cx="6527363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Setiap kelompok mendapat topik berbeda.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645950" y="6177439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722447" y="6215658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7309247" y="6243757"/>
            <a:ext cx="6527363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Mereka menyiapkan presentasi 5 menit.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645950" y="7044928"/>
            <a:ext cx="459224" cy="459224"/>
          </a:xfrm>
          <a:prstGeom prst="roundRect">
            <a:avLst>
              <a:gd fmla="val 6668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722447" y="7083147"/>
            <a:ext cx="306110" cy="382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09247" y="7111246"/>
            <a:ext cx="6527363" cy="326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Kelompok lain memberikan pertanyaan.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793790" y="720566"/>
            <a:ext cx="6350198" cy="56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omorrow SemiBold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33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5. Brainstorming Sessions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93790" y="1707832"/>
            <a:ext cx="2551748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omorrow SemiBold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0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93790" y="2204323"/>
            <a:ext cx="4295180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Menghasilkan banyak ide dalam waktu singkat.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67833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/>
          <p:nvPr/>
        </p:nvSpPr>
        <p:spPr>
          <a:xfrm>
            <a:off x="5511641" y="1707832"/>
            <a:ext cx="2653784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omorrow SemiBold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0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511641" y="2480786"/>
            <a:ext cx="8332470" cy="890349"/>
          </a:xfrm>
          <a:prstGeom prst="roundRect">
            <a:avLst>
              <a:gd fmla="val 12324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511641" y="2457926"/>
            <a:ext cx="8332470" cy="9144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9422725" y="2225635"/>
            <a:ext cx="510302" cy="510302"/>
          </a:xfrm>
          <a:prstGeom prst="roundRect">
            <a:avLst>
              <a:gd fmla="val 17918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9575840" y="2353151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omorrow SemiBold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704523" y="2906078"/>
            <a:ext cx="7946708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Tulis masalah di papan.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511641" y="3796308"/>
            <a:ext cx="8332470" cy="890349"/>
          </a:xfrm>
          <a:prstGeom prst="roundRect">
            <a:avLst>
              <a:gd fmla="val 12324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511641" y="3773448"/>
            <a:ext cx="8332470" cy="9144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422725" y="3541157"/>
            <a:ext cx="510302" cy="510302"/>
          </a:xfrm>
          <a:prstGeom prst="roundRect">
            <a:avLst>
              <a:gd fmla="val 17918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575840" y="3668673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omorrow SemiBold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704523" y="4221599"/>
            <a:ext cx="7946708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melemparkan ide tanpa kritik (rule: no judging).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511641" y="5111829"/>
            <a:ext cx="8332470" cy="890349"/>
          </a:xfrm>
          <a:prstGeom prst="roundRect">
            <a:avLst>
              <a:gd fmla="val 12324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511641" y="5088969"/>
            <a:ext cx="8332470" cy="9144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9422725" y="4856678"/>
            <a:ext cx="510302" cy="510302"/>
          </a:xfrm>
          <a:prstGeom prst="roundRect">
            <a:avLst>
              <a:gd fmla="val 17918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575840" y="4984194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omorrow SemiBold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704523" y="5537121"/>
            <a:ext cx="7946708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mengelompokkan ide-ide serupa.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511641" y="6427351"/>
            <a:ext cx="8332470" cy="890349"/>
          </a:xfrm>
          <a:prstGeom prst="roundRect">
            <a:avLst>
              <a:gd fmla="val 12324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511641" y="6404491"/>
            <a:ext cx="8332470" cy="9144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9422725" y="6172200"/>
            <a:ext cx="510302" cy="510302"/>
          </a:xfrm>
          <a:prstGeom prst="roundRect">
            <a:avLst>
              <a:gd fmla="val 17918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9575840" y="6299716"/>
            <a:ext cx="204073" cy="255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omorrow SemiBold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704523" y="6852642"/>
            <a:ext cx="7946708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Tim memilih 3 ide terbaik untuk dieksekusi.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/>
          <p:nvPr/>
        </p:nvSpPr>
        <p:spPr>
          <a:xfrm>
            <a:off x="793790" y="764619"/>
            <a:ext cx="5865971" cy="562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omorrow SemiBold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33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6. Collaborative Projects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048941" y="1922026"/>
            <a:ext cx="2551748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omorrow SemiBold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0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048941" y="2503646"/>
            <a:ext cx="12787670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Melatih delegasi tugas, kolaborasi lintas fungsi, dan manajemen proyek mini.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93790" y="1666875"/>
            <a:ext cx="22860" cy="1300282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93790" y="3222308"/>
            <a:ext cx="2653784" cy="326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omorrow SemiBold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0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48941" y="4229219"/>
            <a:ext cx="6181130" cy="170021"/>
          </a:xfrm>
          <a:prstGeom prst="roundRect">
            <a:avLst>
              <a:gd fmla="val 15009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793790" y="4059079"/>
            <a:ext cx="510302" cy="510302"/>
          </a:xfrm>
          <a:prstGeom prst="roundRect">
            <a:avLst>
              <a:gd fmla="val 89594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1306" y="4186714"/>
            <a:ext cx="255151" cy="2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963811" y="4739402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Berikan proyek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963811" y="5107186"/>
            <a:ext cx="609635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Misal: membuat poster kampanye, simulasi produk, SOP mini.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7655362" y="3974068"/>
            <a:ext cx="6181130" cy="170021"/>
          </a:xfrm>
          <a:prstGeom prst="roundRect">
            <a:avLst>
              <a:gd fmla="val 15009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400211" y="3803928"/>
            <a:ext cx="510302" cy="510302"/>
          </a:xfrm>
          <a:prstGeom prst="roundRect">
            <a:avLst>
              <a:gd fmla="val 89594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7727" y="3931563"/>
            <a:ext cx="255151" cy="2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/>
          <p:nvPr/>
        </p:nvSpPr>
        <p:spPr>
          <a:xfrm>
            <a:off x="7570232" y="4484251"/>
            <a:ext cx="2842022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Kelompok membagi tugas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7570232" y="4852035"/>
            <a:ext cx="609635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Sesuai kekuatan masing-masing.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048941" y="6144697"/>
            <a:ext cx="6181130" cy="170021"/>
          </a:xfrm>
          <a:prstGeom prst="roundRect">
            <a:avLst>
              <a:gd fmla="val 15009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93790" y="5974556"/>
            <a:ext cx="510302" cy="510302"/>
          </a:xfrm>
          <a:prstGeom prst="roundRect">
            <a:avLst>
              <a:gd fmla="val 89594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306" y="6102191"/>
            <a:ext cx="255151" cy="2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7"/>
          <p:cNvSpPr/>
          <p:nvPr/>
        </p:nvSpPr>
        <p:spPr>
          <a:xfrm>
            <a:off x="963811" y="6654879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Jalankan proyek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963811" y="7022663"/>
            <a:ext cx="6096357" cy="272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Dalam waktu tertentu.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655362" y="5889546"/>
            <a:ext cx="6181130" cy="170021"/>
          </a:xfrm>
          <a:prstGeom prst="roundRect">
            <a:avLst>
              <a:gd fmla="val 15009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7400211" y="5719405"/>
            <a:ext cx="510302" cy="510302"/>
          </a:xfrm>
          <a:prstGeom prst="roundRect">
            <a:avLst>
              <a:gd fmla="val 89594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7727" y="5847040"/>
            <a:ext cx="255151" cy="25515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/>
          <p:nvPr/>
        </p:nvSpPr>
        <p:spPr>
          <a:xfrm>
            <a:off x="7570232" y="6399728"/>
            <a:ext cx="2509957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Presentasikan hasilnya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793790" y="2119551"/>
            <a:ext cx="7298293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7. Case Study Analysis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93790" y="2949535"/>
            <a:ext cx="4718923" cy="597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🔎</a:t>
            </a:r>
            <a:r>
              <a:rPr b="1" i="0" lang="en-US" sz="35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793790" y="3887153"/>
            <a:ext cx="6407944" cy="1179433"/>
          </a:xfrm>
          <a:prstGeom prst="roundRect">
            <a:avLst>
              <a:gd fmla="val 288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020604" y="4113967"/>
            <a:ext cx="59543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memberikan kasus real atau hipotetis.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428548" y="3887153"/>
            <a:ext cx="6408063" cy="1179433"/>
          </a:xfrm>
          <a:prstGeom prst="roundRect">
            <a:avLst>
              <a:gd fmla="val 288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655362" y="4113967"/>
            <a:ext cx="59544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Kelompok membaca kasus dan mengidentifikasi masalah inti.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793790" y="5293400"/>
            <a:ext cx="6407944" cy="816531"/>
          </a:xfrm>
          <a:prstGeom prst="roundRect">
            <a:avLst>
              <a:gd fmla="val 4167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020604" y="5520214"/>
            <a:ext cx="595431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Kelompok mengusulkan solusi dan risiko.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428548" y="5293400"/>
            <a:ext cx="6408063" cy="816531"/>
          </a:xfrm>
          <a:prstGeom prst="roundRect">
            <a:avLst>
              <a:gd fmla="val 4167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655362" y="552021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Presentasi dan diskusi antar kelompok.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793790" y="659130"/>
            <a:ext cx="8558213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8. Team Building Exercises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793790" y="1942624"/>
            <a:ext cx="556486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1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Contoh: Escape Room, Ropes Course, Outdoor Challenge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93790" y="2872502"/>
            <a:ext cx="556486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1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Tujuan:</a:t>
            </a: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 Koordinasi, kepercayaan, decision making di bawah tekanan.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853458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6919674" y="1965365"/>
            <a:ext cx="3402330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💡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Struktur umum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919674" y="2668667"/>
            <a:ext cx="907256" cy="1397675"/>
          </a:xfrm>
          <a:prstGeom prst="roundRect">
            <a:avLst>
              <a:gd fmla="val 36002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203162" y="3154799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8053745" y="28954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Briefing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053745" y="3476625"/>
            <a:ext cx="579036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Aturan + tujuan.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919674" y="4293156"/>
            <a:ext cx="907256" cy="1397675"/>
          </a:xfrm>
          <a:prstGeom prst="roundRect">
            <a:avLst>
              <a:gd fmla="val 36002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203162" y="477928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8053745" y="451997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Aktivitas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8053745" y="5101114"/>
            <a:ext cx="579036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Pemecahan puzzle/halangan.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919674" y="5917644"/>
            <a:ext cx="907256" cy="1397675"/>
          </a:xfrm>
          <a:prstGeom prst="roundRect">
            <a:avLst>
              <a:gd fmla="val 36002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203162" y="6403777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8053745" y="61444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Debrief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8053745" y="6725603"/>
            <a:ext cx="579036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Apa pelajaran teamwork hari ini?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793790" y="947618"/>
            <a:ext cx="7145655" cy="8314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5200"/>
              <a:buFont typeface="Tomorrow SemiBold"/>
              <a:buNone/>
            </a:pPr>
            <a:r>
              <a:rPr b="1" i="0" lang="en-US" sz="52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9. Group Discussions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93790" y="2068235"/>
            <a:ext cx="385595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omorrow SemiBold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93790" y="2862263"/>
            <a:ext cx="7556421" cy="732473"/>
          </a:xfrm>
          <a:prstGeom prst="roundRect">
            <a:avLst>
              <a:gd fmla="val 14980" name="adj"/>
            </a:avLst>
          </a:prstGeom>
          <a:solidFill>
            <a:srgbClr val="FCFCFC"/>
          </a:solidFill>
          <a:ln cap="flat" cmpd="sng" w="22850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70930" y="2862263"/>
            <a:ext cx="91440" cy="732473"/>
          </a:xfrm>
          <a:prstGeom prst="roundRect">
            <a:avLst>
              <a:gd fmla="val 3162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077992" y="3077885"/>
            <a:ext cx="2409944" cy="30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850"/>
              <a:buFont typeface="Tomorrow SemiBold"/>
              <a:buNone/>
            </a:pPr>
            <a:r>
              <a:rPr b="1" i="0" lang="en-US" sz="18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Langkah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811548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0"/>
          <p:cNvSpPr/>
          <p:nvPr/>
        </p:nvSpPr>
        <p:spPr>
          <a:xfrm>
            <a:off x="1950482" y="4004310"/>
            <a:ext cx="639972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memberikan topik atau pernyataan pemantik.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968359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1950482" y="5161121"/>
            <a:ext cx="639972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berbagi pendapat secara bergantian.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5" name="Google Shape;28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6125170"/>
            <a:ext cx="963930" cy="115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/>
          <p:nvPr/>
        </p:nvSpPr>
        <p:spPr>
          <a:xfrm>
            <a:off x="1950482" y="6317933"/>
            <a:ext cx="6399728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merangkum insight.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"/>
          <p:cNvSpPr/>
          <p:nvPr/>
        </p:nvSpPr>
        <p:spPr>
          <a:xfrm>
            <a:off x="793790" y="1959888"/>
            <a:ext cx="7114103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10. Mock Negotiations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793790" y="2789873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1D1D1B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Langkah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793790" y="3555325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 Light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01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793790" y="3910370"/>
            <a:ext cx="3481864" cy="304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793790" y="4084677"/>
            <a:ext cx="348186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Tentukan skenario negosiasi (gaji, vendor, timeline proyek).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02468" y="3555325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 Light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02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502468" y="3910370"/>
            <a:ext cx="3481983" cy="304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02468" y="4084677"/>
            <a:ext cx="348198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Peran A dan B dinegosiasikan selama 5 menit.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93790" y="5207318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 Light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 Light"/>
                <a:ea typeface="Tomorrow Light"/>
                <a:cs typeface="Tomorrow Light"/>
                <a:sym typeface="Tomorrow Light"/>
              </a:rPr>
              <a:t>03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793790" y="5562362"/>
            <a:ext cx="7190661" cy="3048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793790" y="5736669"/>
            <a:ext cx="719066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Observer mencatat teknik komunikasi efektif.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0" y="0"/>
            <a:ext cx="585216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"/>
          <p:cNvSpPr/>
          <p:nvPr/>
        </p:nvSpPr>
        <p:spPr>
          <a:xfrm>
            <a:off x="793790" y="750808"/>
            <a:ext cx="7593806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11. Icebreaker Activities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793790" y="1943695"/>
            <a:ext cx="6407944" cy="2592348"/>
          </a:xfrm>
          <a:prstGeom prst="roundRect">
            <a:avLst>
              <a:gd fmla="val 131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020604" y="2170509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770" y="235755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/>
          <p:nvPr/>
        </p:nvSpPr>
        <p:spPr>
          <a:xfrm>
            <a:off x="1020604" y="3077766"/>
            <a:ext cx="283523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1020604" y="3583424"/>
            <a:ext cx="59543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Menghangatkan suasana, meningkatkan energi, dan membuat peserta lebih nyaman.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428548" y="1943695"/>
            <a:ext cx="6408063" cy="2592348"/>
          </a:xfrm>
          <a:prstGeom prst="roundRect">
            <a:avLst>
              <a:gd fmla="val 131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7655362" y="2170509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7" name="Google Shape;3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2528" y="235755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2"/>
          <p:cNvSpPr/>
          <p:nvPr/>
        </p:nvSpPr>
        <p:spPr>
          <a:xfrm>
            <a:off x="7655362" y="3077766"/>
            <a:ext cx="283523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⏱</a:t>
            </a: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Durasi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7655362" y="3583424"/>
            <a:ext cx="595443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3–7 menit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793790" y="4876205"/>
            <a:ext cx="3539609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793790" y="5868591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Pilih icebreaking ringan (contoh: Two Truths &amp; One Lie, Speed Introduction).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793790" y="6673691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memberi instruksi sederhana dan memberi contoh.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7599521" y="5868591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Calibri"/>
              <a:buAutoNum type="arabicPeriod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melakukan aktivitas secara cepat.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599521" y="6310789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Calibri"/>
              <a:buAutoNum type="arabicPeriod" startAt="2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Tutup dengan komentar positif atau insight singkat.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0" name="Google Shape;3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26826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793790" y="2944058"/>
            <a:ext cx="7470934" cy="597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35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12. Communication Exercises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793790" y="3813691"/>
            <a:ext cx="13042821" cy="1243608"/>
          </a:xfrm>
          <a:prstGeom prst="roundRect">
            <a:avLst>
              <a:gd fmla="val 2189" name="adj"/>
            </a:avLst>
          </a:prstGeom>
          <a:solidFill>
            <a:srgbClr val="DADAD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3" name="Google Shape;33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241" y="4070628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3"/>
          <p:cNvSpPr/>
          <p:nvPr/>
        </p:nvSpPr>
        <p:spPr>
          <a:xfrm>
            <a:off x="1440180" y="4040505"/>
            <a:ext cx="2268260" cy="291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Tomorrow SemiBold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 Tujuan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440180" y="4513064"/>
            <a:ext cx="12214979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Melatih kejelasan instruksi, active listening, dan komunikasi dua arah.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93790" y="5329476"/>
            <a:ext cx="2832140" cy="35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1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793790" y="5957054"/>
            <a:ext cx="13042821" cy="1596628"/>
          </a:xfrm>
          <a:prstGeom prst="roundRect">
            <a:avLst>
              <a:gd fmla="val 170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793790" y="5957054"/>
            <a:ext cx="6521410" cy="943451"/>
          </a:xfrm>
          <a:prstGeom prst="roundRect">
            <a:avLst>
              <a:gd fmla="val 288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975241" y="6138505"/>
            <a:ext cx="6158508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Pilih aktivitas (misal: menggambar berdasarkan instruksi, pesan berantai).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7315200" y="5957054"/>
            <a:ext cx="6521410" cy="943451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315200" y="5957054"/>
            <a:ext cx="22860" cy="943451"/>
          </a:xfrm>
          <a:prstGeom prst="roundRect">
            <a:avLst>
              <a:gd fmla="val 119070" name="adj"/>
            </a:avLst>
          </a:prstGeom>
          <a:solidFill>
            <a:srgbClr val="D6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7496651" y="6138505"/>
            <a:ext cx="6158508" cy="580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Beri aturan bahwa peserta tidak boleh menunjukkan gambar atau objek.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793790" y="6900505"/>
            <a:ext cx="6521410" cy="653177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93790" y="6900505"/>
            <a:ext cx="6521410" cy="22860"/>
          </a:xfrm>
          <a:prstGeom prst="roundRect">
            <a:avLst>
              <a:gd fmla="val 119070" name="adj"/>
            </a:avLst>
          </a:prstGeom>
          <a:solidFill>
            <a:srgbClr val="D6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975241" y="7081957"/>
            <a:ext cx="615850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A memberi instruksi → Peserta B mengeksekusi.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7315200" y="6900505"/>
            <a:ext cx="6521410" cy="653177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7315200" y="6900505"/>
            <a:ext cx="22860" cy="653177"/>
          </a:xfrm>
          <a:prstGeom prst="roundRect">
            <a:avLst>
              <a:gd fmla="val 119070" name="adj"/>
            </a:avLst>
          </a:prstGeom>
          <a:solidFill>
            <a:srgbClr val="D6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7315200" y="6900505"/>
            <a:ext cx="6521410" cy="22860"/>
          </a:xfrm>
          <a:prstGeom prst="roundRect">
            <a:avLst>
              <a:gd fmla="val 119070" name="adj"/>
            </a:avLst>
          </a:prstGeom>
          <a:solidFill>
            <a:srgbClr val="D6D0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7496651" y="7081957"/>
            <a:ext cx="6158508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Bandingkan hasilnya.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5" name="Google Shape;3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58368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/>
          <p:nvPr/>
        </p:nvSpPr>
        <p:spPr>
          <a:xfrm>
            <a:off x="7377470" y="665321"/>
            <a:ext cx="6459141" cy="1227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Tomorrow SemiBold"/>
              <a:buNone/>
            </a:pPr>
            <a:r>
              <a:rPr b="1" i="0" lang="en-US" sz="37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37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13. Leadership Challenges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7666673" y="2471499"/>
            <a:ext cx="2409944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Tomorrow SemiBold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18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7666673" y="3077170"/>
            <a:ext cx="6169938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Melatih pengambilan keputusan, memberi arahan, dan kepemimpinan situasional.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7377470" y="2182297"/>
            <a:ext cx="22860" cy="172843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7377470" y="4199930"/>
            <a:ext cx="3008114" cy="376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Tomorrow SemiBold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2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7377470" y="4971871"/>
            <a:ext cx="96322" cy="96322"/>
          </a:xfrm>
          <a:prstGeom prst="roundRect">
            <a:avLst>
              <a:gd fmla="val 47465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7666553" y="4865846"/>
            <a:ext cx="6170057" cy="61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memberi tugas yang butuh pemimpin (misal: menyusun strategi dalam 3 menit).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7377470" y="5974140"/>
            <a:ext cx="96322" cy="96322"/>
          </a:xfrm>
          <a:prstGeom prst="roundRect">
            <a:avLst>
              <a:gd fmla="val 47465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7666553" y="5868114"/>
            <a:ext cx="6170057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Tim memilih atau menunjuk leader.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7377470" y="6668036"/>
            <a:ext cx="96322" cy="96322"/>
          </a:xfrm>
          <a:prstGeom prst="roundRect">
            <a:avLst>
              <a:gd fmla="val 47465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7666553" y="6562011"/>
            <a:ext cx="6170057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Leader memandu tim dalam menyelesaikan tugas.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7377470" y="7361932"/>
            <a:ext cx="96322" cy="96322"/>
          </a:xfrm>
          <a:prstGeom prst="roundRect">
            <a:avLst>
              <a:gd fmla="val 474658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7666553" y="7255907"/>
            <a:ext cx="6170057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00"/>
              <a:buFont typeface="Tomorrow"/>
              <a:buNone/>
            </a:pPr>
            <a:r>
              <a:rPr b="0" i="0" lang="en-US" sz="150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mengamati gaya kepemimpinan.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"/>
          <p:cNvSpPr/>
          <p:nvPr/>
        </p:nvSpPr>
        <p:spPr>
          <a:xfrm>
            <a:off x="793790" y="797362"/>
            <a:ext cx="10628828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14. Diversity &amp; Inclusion Activities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793790" y="2103596"/>
            <a:ext cx="3402330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793790" y="2778562"/>
            <a:ext cx="488501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Membangun kesadaran perbedaan, empati, dan komunikasi inklusif.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7" name="Google Shape;3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759518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5"/>
          <p:cNvSpPr/>
          <p:nvPr/>
        </p:nvSpPr>
        <p:spPr>
          <a:xfrm>
            <a:off x="6239828" y="2103596"/>
            <a:ext cx="3539609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6239828" y="3147060"/>
            <a:ext cx="3688675" cy="2275880"/>
          </a:xfrm>
          <a:prstGeom prst="roundRect">
            <a:avLst>
              <a:gd fmla="val 6428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6239828" y="3116580"/>
            <a:ext cx="3688675" cy="12192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7743885" y="2806898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7947958" y="2977039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6497122" y="3714036"/>
            <a:ext cx="317408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memberikan situasi terkait keberagaman (budaya, gaya kerja, perspektif).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0155317" y="3147060"/>
            <a:ext cx="3688794" cy="2275880"/>
          </a:xfrm>
          <a:prstGeom prst="roundRect">
            <a:avLst>
              <a:gd fmla="val 6428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0155317" y="3116580"/>
            <a:ext cx="3688794" cy="12192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11659493" y="2806898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11863566" y="2977039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10412611" y="3714036"/>
            <a:ext cx="317420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berbagi pengalaman atau menanggapi skenario.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6239828" y="5989915"/>
            <a:ext cx="7604284" cy="1187172"/>
          </a:xfrm>
          <a:prstGeom prst="roundRect">
            <a:avLst>
              <a:gd fmla="val 12324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6239828" y="5959435"/>
            <a:ext cx="7604284" cy="121920"/>
          </a:xfrm>
          <a:prstGeom prst="roundRect">
            <a:avLst>
              <a:gd fmla="val 27907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9701748" y="5649754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9905821" y="5819894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497122" y="6556891"/>
            <a:ext cx="708969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Kelompok merumuskan cara bersikap inklusif di tempat kerja.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9" name="Google Shape;3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6"/>
          <p:cNvSpPr/>
          <p:nvPr/>
        </p:nvSpPr>
        <p:spPr>
          <a:xfrm>
            <a:off x="6280190" y="737116"/>
            <a:ext cx="7074575" cy="518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Tomorrow SemiBold"/>
              <a:buNone/>
            </a:pPr>
            <a:r>
              <a:rPr b="1" i="0" lang="en-US" sz="31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31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15. Time Management Exercises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280190" y="1494234"/>
            <a:ext cx="7556421" cy="922377"/>
          </a:xfrm>
          <a:prstGeom prst="roundRect">
            <a:avLst>
              <a:gd fmla="val 41314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6438900" y="1652945"/>
            <a:ext cx="1984653" cy="2556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Tomorrow SemiBold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155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438900" y="2003822"/>
            <a:ext cx="7239000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50"/>
              <a:buFont typeface="Tomorrow"/>
              <a:buNone/>
            </a:pPr>
            <a:r>
              <a:rPr b="0" i="0" lang="en-US" sz="12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Melatih prioritas, deadline, dan efisiensi.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6280190" y="2654737"/>
            <a:ext cx="2477810" cy="312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Tomorrow SemiBold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18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6280190" y="3205758"/>
            <a:ext cx="7556421" cy="952619"/>
          </a:xfrm>
          <a:prstGeom prst="roundRect">
            <a:avLst>
              <a:gd fmla="val 2500" name="adj"/>
            </a:avLst>
          </a:prstGeom>
          <a:solidFill>
            <a:srgbClr val="FCFCFC"/>
          </a:solidFill>
          <a:ln cap="flat" cmpd="sng" w="22850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6303050" y="3228618"/>
            <a:ext cx="158710" cy="906899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620470" y="3387328"/>
            <a:ext cx="7193280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50"/>
              <a:buFont typeface="Tomorrow"/>
              <a:buNone/>
            </a:pPr>
            <a:r>
              <a:rPr b="0" i="0" lang="en-US" sz="12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Berikan daftar tugas fiktif dengan waktu terbatas.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6518315" y="4317087"/>
            <a:ext cx="7318296" cy="952619"/>
          </a:xfrm>
          <a:prstGeom prst="roundRect">
            <a:avLst>
              <a:gd fmla="val 2500" name="adj"/>
            </a:avLst>
          </a:prstGeom>
          <a:solidFill>
            <a:srgbClr val="FCFCFC"/>
          </a:solidFill>
          <a:ln cap="flat" cmpd="sng" w="22850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6541175" y="4339947"/>
            <a:ext cx="158710" cy="906899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6858595" y="4498658"/>
            <a:ext cx="6955155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50"/>
              <a:buFont typeface="Tomorrow"/>
              <a:buNone/>
            </a:pPr>
            <a:r>
              <a:rPr b="0" i="0" lang="en-US" sz="12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mengurutkan prioritas A–B–C.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756440" y="5428417"/>
            <a:ext cx="7080171" cy="952619"/>
          </a:xfrm>
          <a:prstGeom prst="roundRect">
            <a:avLst>
              <a:gd fmla="val 2500" name="adj"/>
            </a:avLst>
          </a:prstGeom>
          <a:solidFill>
            <a:srgbClr val="FCFCFC"/>
          </a:solidFill>
          <a:ln cap="flat" cmpd="sng" w="22850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6779300" y="5451277"/>
            <a:ext cx="158710" cy="906899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7096720" y="5609987"/>
            <a:ext cx="6717030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50"/>
              <a:buFont typeface="Tomorrow"/>
              <a:buNone/>
            </a:pPr>
            <a:r>
              <a:rPr b="0" i="0" lang="en-US" sz="12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Mereka berdiskusi dan memutuskan strategi waktu.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6994684" y="6539746"/>
            <a:ext cx="6841927" cy="952619"/>
          </a:xfrm>
          <a:prstGeom prst="roundRect">
            <a:avLst>
              <a:gd fmla="val 2500" name="adj"/>
            </a:avLst>
          </a:prstGeom>
          <a:solidFill>
            <a:srgbClr val="FCFCFC"/>
          </a:solidFill>
          <a:ln cap="flat" cmpd="sng" w="22850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7017544" y="6562606"/>
            <a:ext cx="158710" cy="906899"/>
          </a:xfrm>
          <a:prstGeom prst="rect">
            <a:avLst/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7334964" y="6721316"/>
            <a:ext cx="6478786" cy="254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50"/>
              <a:buFont typeface="Tomorrow"/>
              <a:buNone/>
            </a:pPr>
            <a:r>
              <a:rPr b="0" i="0" lang="en-US" sz="12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Fasilitator menutup dengan tips time management.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/>
          <p:nvPr/>
        </p:nvSpPr>
        <p:spPr>
          <a:xfrm>
            <a:off x="793790" y="694968"/>
            <a:ext cx="6459141" cy="1377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Tomorrow SemiBold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2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16. Strength-Finding Activities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793790" y="2395418"/>
            <a:ext cx="6459141" cy="1482685"/>
          </a:xfrm>
          <a:prstGeom prst="roundRect">
            <a:avLst>
              <a:gd fmla="val 2180" name="adj"/>
            </a:avLst>
          </a:prstGeom>
          <a:solidFill>
            <a:srgbClr val="DADAD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174" y="2703195"/>
            <a:ext cx="336590" cy="269319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7"/>
          <p:cNvSpPr/>
          <p:nvPr/>
        </p:nvSpPr>
        <p:spPr>
          <a:xfrm>
            <a:off x="1561148" y="2664619"/>
            <a:ext cx="2693551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 Tujuan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1561148" y="3231833"/>
            <a:ext cx="5476399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Tomorro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Mengenali kekuatan individu &amp; tim.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793790" y="4201239"/>
            <a:ext cx="3362444" cy="4192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omorrow SemiBold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50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793790" y="4943594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874633" y="4984016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500"/>
              <a:buFont typeface="Tomorrow SemiBold"/>
              <a:buNone/>
            </a:pPr>
            <a:r>
              <a:rPr b="1" i="0" lang="en-US" sz="25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1493996" y="5013603"/>
            <a:ext cx="575893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"/>
              <a:buNone/>
            </a:pPr>
            <a:r>
              <a:rPr b="0" i="0" lang="en-US" sz="16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Peserta menuliskan 3 kekuatan mereka.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793790" y="5859304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874633" y="5899725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500"/>
              <a:buFont typeface="Tomorrow SemiBold"/>
              <a:buNone/>
            </a:pPr>
            <a:r>
              <a:rPr b="1" i="0" lang="en-US" sz="25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1493996" y="5929313"/>
            <a:ext cx="5758934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"/>
              <a:buNone/>
            </a:pPr>
            <a:r>
              <a:rPr b="0" i="0" lang="en-US" sz="16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Tukar kertas dengan teman sebelah dan tambahkan 1 kekuatan yang kamu lihat.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793790" y="7049810"/>
            <a:ext cx="484823" cy="484823"/>
          </a:xfrm>
          <a:prstGeom prst="roundRect">
            <a:avLst>
              <a:gd fmla="val 6667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874633" y="7090231"/>
            <a:ext cx="323136" cy="403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500"/>
              <a:buFont typeface="Tomorrow SemiBold"/>
              <a:buNone/>
            </a:pPr>
            <a:r>
              <a:rPr b="1" i="0" lang="en-US" sz="25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1493996" y="7119818"/>
            <a:ext cx="5758934" cy="3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50"/>
              <a:buFont typeface="Tomorrow"/>
              <a:buNone/>
            </a:pPr>
            <a:r>
              <a:rPr b="0" i="0" lang="en-US" sz="16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Kelompok merangkum kekuatan dominan tim.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7" name="Google Shape;4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0" y="0"/>
            <a:ext cx="658368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"/>
          <p:cNvSpPr/>
          <p:nvPr/>
        </p:nvSpPr>
        <p:spPr>
          <a:xfrm>
            <a:off x="793790" y="1143953"/>
            <a:ext cx="8474869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17. Icebreaker Discussions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793790" y="2450187"/>
            <a:ext cx="3402330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793790" y="31251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Mengaktifkan peserta tanpa aktivitas fisik.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6" name="Google Shape;4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743206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8"/>
          <p:cNvSpPr/>
          <p:nvPr/>
        </p:nvSpPr>
        <p:spPr>
          <a:xfrm>
            <a:off x="7599521" y="2450187"/>
            <a:ext cx="3539609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8" name="Google Shape;4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4532" y="316051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8"/>
          <p:cNvSpPr/>
          <p:nvPr/>
        </p:nvSpPr>
        <p:spPr>
          <a:xfrm>
            <a:off x="8336637" y="3153489"/>
            <a:ext cx="340447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Beri pertanyaan ringan: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8336637" y="3734633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Char char="•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"Apa tantangan kerja minggu ini?"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8336637" y="4176832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Char char="•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"Apa satu hal yang kamu syukuri hari ini?"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4532" y="5004673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8"/>
          <p:cNvSpPr/>
          <p:nvPr/>
        </p:nvSpPr>
        <p:spPr>
          <a:xfrm>
            <a:off x="8336637" y="4993362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Diskusi 1 menit antar pasangan.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4" name="Google Shape;4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4532" y="615005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8"/>
          <p:cNvSpPr/>
          <p:nvPr/>
        </p:nvSpPr>
        <p:spPr>
          <a:xfrm>
            <a:off x="8336637" y="6138743"/>
            <a:ext cx="550759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2–3 peserta sharing ke kelompok besar.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"/>
          <p:cNvSpPr/>
          <p:nvPr/>
        </p:nvSpPr>
        <p:spPr>
          <a:xfrm>
            <a:off x="793790" y="892254"/>
            <a:ext cx="8068389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18. Trust-Building Games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9"/>
          <p:cNvSpPr/>
          <p:nvPr/>
        </p:nvSpPr>
        <p:spPr>
          <a:xfrm>
            <a:off x="793790" y="2085142"/>
            <a:ext cx="6407944" cy="1810107"/>
          </a:xfrm>
          <a:prstGeom prst="roundRect">
            <a:avLst>
              <a:gd fmla="val 1880" name="adj"/>
            </a:avLst>
          </a:prstGeom>
          <a:solidFill>
            <a:srgbClr val="FCFCFC"/>
          </a:solidFill>
          <a:ln cap="flat" cmpd="sng" w="30475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9"/>
          <p:cNvSpPr/>
          <p:nvPr/>
        </p:nvSpPr>
        <p:spPr>
          <a:xfrm>
            <a:off x="1051084" y="2342436"/>
            <a:ext cx="2835235" cy="369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/>
          <p:nvPr/>
        </p:nvSpPr>
        <p:spPr>
          <a:xfrm>
            <a:off x="1051084" y="2848094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Membentuk rasa aman dan saling percaya.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7428548" y="2085142"/>
            <a:ext cx="6408063" cy="1810107"/>
          </a:xfrm>
          <a:prstGeom prst="roundRect">
            <a:avLst>
              <a:gd fmla="val 1880" name="adj"/>
            </a:avLst>
          </a:prstGeom>
          <a:solidFill>
            <a:srgbClr val="FCFCFC"/>
          </a:solidFill>
          <a:ln cap="flat" cmpd="sng" w="30475">
            <a:solidFill>
              <a:srgbClr val="D6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7685842" y="234243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61615C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Contoh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9"/>
          <p:cNvSpPr/>
          <p:nvPr/>
        </p:nvSpPr>
        <p:spPr>
          <a:xfrm>
            <a:off x="7685842" y="2832854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Char char="•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Trust Fall (versi aman: duduk &amp; ditahan tim)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7685842" y="3275052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Char char="•"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Blind Walk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793790" y="4235410"/>
            <a:ext cx="3539609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0" name="Google Shape;4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02372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9"/>
          <p:cNvSpPr/>
          <p:nvPr/>
        </p:nvSpPr>
        <p:spPr>
          <a:xfrm>
            <a:off x="1020604" y="6157793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Tentukan aktivitas aman (hindari risiko).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2" name="Google Shape;4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502372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9"/>
          <p:cNvSpPr/>
          <p:nvPr/>
        </p:nvSpPr>
        <p:spPr>
          <a:xfrm>
            <a:off x="5368171" y="6157793"/>
            <a:ext cx="389393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Pasangan A menutup mata, B membimbing hanya lewat suara.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5023723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9"/>
          <p:cNvSpPr/>
          <p:nvPr/>
        </p:nvSpPr>
        <p:spPr>
          <a:xfrm>
            <a:off x="9715738" y="6157793"/>
            <a:ext cx="389393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Ganti peran.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1" name="Google Shape;4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CFC">
              <a:alpha val="84705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793790" y="1473160"/>
            <a:ext cx="10494407" cy="7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🧩</a:t>
            </a:r>
            <a:r>
              <a:rPr b="1" i="0" lang="en-US" sz="44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19. Collaborative Problem Solving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/>
          <p:nvPr/>
        </p:nvSpPr>
        <p:spPr>
          <a:xfrm>
            <a:off x="1133951" y="2892743"/>
            <a:ext cx="3402330" cy="448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🎯</a:t>
            </a:r>
            <a:r>
              <a:rPr b="1" i="0" lang="en-US" sz="26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Tujuan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1133951" y="3681055"/>
            <a:ext cx="127026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Tomorrow"/>
                <a:ea typeface="Tomorrow"/>
                <a:cs typeface="Tomorrow"/>
                <a:sym typeface="Tomorrow"/>
              </a:rPr>
              <a:t>Melatih kolaborasi logis dan analitis.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/>
          <p:nvPr/>
        </p:nvSpPr>
        <p:spPr>
          <a:xfrm>
            <a:off x="793790" y="2552581"/>
            <a:ext cx="30480" cy="1746528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/>
          <p:nvPr/>
        </p:nvSpPr>
        <p:spPr>
          <a:xfrm>
            <a:off x="793790" y="4639270"/>
            <a:ext cx="4718923" cy="597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00000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🧭</a:t>
            </a:r>
            <a:r>
              <a:rPr b="1" i="0" lang="en-US" sz="3550" u="none" cap="none" strike="noStrike">
                <a:solidFill>
                  <a:srgbClr val="1D1D1B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Langkah-langkah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793790" y="5576888"/>
            <a:ext cx="4196358" cy="1179433"/>
          </a:xfrm>
          <a:prstGeom prst="roundRect">
            <a:avLst>
              <a:gd fmla="val 288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020604" y="580370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Berikan puzzle atau kasus (misal: aktivitas prioritas, simulasi aset).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5216962" y="5576888"/>
            <a:ext cx="4196358" cy="1179433"/>
          </a:xfrm>
          <a:prstGeom prst="roundRect">
            <a:avLst>
              <a:gd fmla="val 288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/>
          <p:nvPr/>
        </p:nvSpPr>
        <p:spPr>
          <a:xfrm>
            <a:off x="5443776" y="580370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Anggota tim menyumbang insight masing-masing.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9640133" y="5576888"/>
            <a:ext cx="4196358" cy="1179433"/>
          </a:xfrm>
          <a:prstGeom prst="roundRect">
            <a:avLst>
              <a:gd fmla="val 2885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9866948" y="5803702"/>
            <a:ext cx="374273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Tim mencapai keputusan final dan mempresentasikannya.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2025-12-06T15:17:54Z</dcterms:created>
</cp:coreProperties>
</file>