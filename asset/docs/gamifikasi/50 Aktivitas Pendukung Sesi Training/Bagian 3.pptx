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4630400" cy="8229600"/>
  <p:notesSz cx="8229600" cy="14630400"/>
  <p:embeddedFontLst>
    <p:embeddedFont>
      <p:font typeface="Tomorrow" pitchFamily="2" charset="0"/>
      <p:regular r:id="rId16"/>
    </p:embeddedFont>
    <p:embeddedFont>
      <p:font typeface="Tomorrow Semi Bold" pitchFamily="2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83211"/>
  </p:normalViewPr>
  <p:slideViewPr>
    <p:cSldViewPr snapToGrid="0" snapToObjects="1">
      <p:cViewPr varScale="1">
        <p:scale>
          <a:sx n="69" d="100"/>
          <a:sy n="69" d="100"/>
        </p:scale>
        <p:origin x="172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5331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/>
              <a:t>Apa </a:t>
            </a:r>
            <a:r>
              <a:rPr lang="en-ID" dirty="0" err="1"/>
              <a:t>tantangan</a:t>
            </a:r>
            <a:r>
              <a:rPr lang="en-ID" dirty="0"/>
              <a:t> </a:t>
            </a:r>
            <a:r>
              <a:rPr lang="en-ID" dirty="0" err="1"/>
              <a:t>bekerja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bicara</a:t>
            </a:r>
            <a:r>
              <a:rPr lang="en-ID" dirty="0"/>
              <a:t>?</a:t>
            </a:r>
          </a:p>
          <a:p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tim</a:t>
            </a:r>
            <a:r>
              <a:rPr lang="en-ID" dirty="0"/>
              <a:t> </a:t>
            </a:r>
            <a:r>
              <a:rPr lang="en-ID" dirty="0" err="1"/>
              <a:t>mengembangkan</a:t>
            </a:r>
            <a:r>
              <a:rPr lang="en-ID" dirty="0"/>
              <a:t> “</a:t>
            </a:r>
            <a:r>
              <a:rPr lang="en-ID" dirty="0" err="1"/>
              <a:t>bahasa</a:t>
            </a:r>
            <a:r>
              <a:rPr lang="en-ID" dirty="0"/>
              <a:t>” </a:t>
            </a:r>
            <a:r>
              <a:rPr lang="en-ID" dirty="0" err="1"/>
              <a:t>baru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tekanan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</a:t>
            </a:r>
            <a:r>
              <a:rPr lang="en-ID" dirty="0" err="1"/>
              <a:t>mempengaruhi</a:t>
            </a:r>
            <a:r>
              <a:rPr lang="en-ID" dirty="0"/>
              <a:t> </a:t>
            </a:r>
            <a:r>
              <a:rPr lang="en-ID" dirty="0" err="1"/>
              <a:t>kreativitas</a:t>
            </a:r>
            <a:r>
              <a:rPr lang="en-ID" dirty="0"/>
              <a:t>?</a:t>
            </a:r>
          </a:p>
          <a:p>
            <a:r>
              <a:rPr lang="en-ID" dirty="0"/>
              <a:t>Ide mana yang paling </a:t>
            </a:r>
            <a:r>
              <a:rPr lang="en-ID" dirty="0" err="1"/>
              <a:t>potensial</a:t>
            </a:r>
            <a:r>
              <a:rPr lang="en-ID" dirty="0"/>
              <a:t> </a:t>
            </a:r>
            <a:r>
              <a:rPr lang="en-ID" dirty="0" err="1"/>
              <a:t>dikembangkan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/>
              <a:t>Apa </a:t>
            </a:r>
            <a:r>
              <a:rPr lang="en-ID" dirty="0" err="1"/>
              <a:t>hal</a:t>
            </a:r>
            <a:r>
              <a:rPr lang="en-ID" dirty="0"/>
              <a:t> </a:t>
            </a:r>
            <a:r>
              <a:rPr lang="en-ID" dirty="0" err="1"/>
              <a:t>terbesar</a:t>
            </a:r>
            <a:r>
              <a:rPr lang="en-ID" dirty="0"/>
              <a:t> yang </a:t>
            </a:r>
            <a:r>
              <a:rPr lang="en-ID" dirty="0" err="1"/>
              <a:t>memotivasi</a:t>
            </a:r>
            <a:r>
              <a:rPr lang="en-ID" dirty="0"/>
              <a:t> </a:t>
            </a:r>
            <a:r>
              <a:rPr lang="en-ID" dirty="0" err="1"/>
              <a:t>dirimu</a:t>
            </a:r>
            <a:r>
              <a:rPr lang="en-ID" dirty="0"/>
              <a:t>?</a:t>
            </a:r>
          </a:p>
          <a:p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atasan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tim</a:t>
            </a:r>
            <a:r>
              <a:rPr lang="en-ID" dirty="0"/>
              <a:t> </a:t>
            </a:r>
            <a:r>
              <a:rPr lang="en-ID" dirty="0" err="1"/>
              <a:t>mengetahui</a:t>
            </a:r>
            <a:r>
              <a:rPr lang="en-ID" dirty="0"/>
              <a:t> </a:t>
            </a:r>
            <a:r>
              <a:rPr lang="en-ID" dirty="0" err="1"/>
              <a:t>hal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yang </a:t>
            </a:r>
            <a:r>
              <a:rPr lang="en-ID" dirty="0" err="1"/>
              <a:t>dipilih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tercermin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perilaku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?</a:t>
            </a:r>
          </a:p>
          <a:p>
            <a:r>
              <a:rPr lang="en-ID" dirty="0"/>
              <a:t>Nilai </a:t>
            </a:r>
            <a:r>
              <a:rPr lang="en-ID" dirty="0" err="1"/>
              <a:t>apa</a:t>
            </a:r>
            <a:r>
              <a:rPr lang="en-ID" dirty="0"/>
              <a:t> yang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diperkuat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beban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</a:t>
            </a:r>
            <a:r>
              <a:rPr lang="en-ID" dirty="0" err="1"/>
              <a:t>merata</a:t>
            </a:r>
            <a:r>
              <a:rPr lang="en-ID" dirty="0"/>
              <a:t>?</a:t>
            </a:r>
          </a:p>
          <a:p>
            <a:r>
              <a:rPr lang="en-ID" dirty="0" err="1"/>
              <a:t>Siapa</a:t>
            </a:r>
            <a:r>
              <a:rPr lang="en-ID" dirty="0"/>
              <a:t> yang </a:t>
            </a:r>
            <a:r>
              <a:rPr lang="en-ID" dirty="0" err="1"/>
              <a:t>sering</a:t>
            </a:r>
            <a:r>
              <a:rPr lang="en-ID" dirty="0"/>
              <a:t> “isolated”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/>
              <a:t>Apa yang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ketika</a:t>
            </a:r>
            <a:r>
              <a:rPr lang="en-ID" dirty="0"/>
              <a:t> </a:t>
            </a:r>
            <a:r>
              <a:rPr lang="en-ID" dirty="0" err="1"/>
              <a:t>kamu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membela</a:t>
            </a:r>
            <a:r>
              <a:rPr lang="en-ID" dirty="0"/>
              <a:t> </a:t>
            </a:r>
            <a:r>
              <a:rPr lang="en-ID" dirty="0" err="1"/>
              <a:t>sudut</a:t>
            </a:r>
            <a:r>
              <a:rPr lang="en-ID" dirty="0"/>
              <a:t> </a:t>
            </a:r>
            <a:r>
              <a:rPr lang="en-ID" dirty="0" err="1"/>
              <a:t>pandang</a:t>
            </a:r>
            <a:r>
              <a:rPr lang="en-ID" dirty="0"/>
              <a:t> </a:t>
            </a:r>
            <a:r>
              <a:rPr lang="en-ID" dirty="0" err="1"/>
              <a:t>berlawanan</a:t>
            </a:r>
            <a:r>
              <a:rPr lang="en-ID" dirty="0"/>
              <a:t>?</a:t>
            </a:r>
          </a:p>
          <a:p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memperluas</a:t>
            </a:r>
            <a:r>
              <a:rPr lang="en-ID" dirty="0"/>
              <a:t> </a:t>
            </a:r>
            <a:r>
              <a:rPr lang="en-ID" dirty="0" err="1"/>
              <a:t>pemikiranmu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/>
              <a:t>Apa </a:t>
            </a:r>
            <a:r>
              <a:rPr lang="en-ID" dirty="0" err="1"/>
              <a:t>kebutuhan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 yang </a:t>
            </a:r>
            <a:r>
              <a:rPr lang="en-ID" dirty="0" err="1"/>
              <a:t>selama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terlewat</a:t>
            </a:r>
            <a:r>
              <a:rPr lang="en-ID" dirty="0"/>
              <a:t>?</a:t>
            </a:r>
          </a:p>
          <a:p>
            <a:r>
              <a:rPr lang="en-ID" dirty="0" err="1"/>
              <a:t>Bagaimana</a:t>
            </a:r>
            <a:r>
              <a:rPr lang="en-ID" dirty="0"/>
              <a:t> persona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kamu</a:t>
            </a:r>
            <a:r>
              <a:rPr lang="en-ID" dirty="0"/>
              <a:t> </a:t>
            </a:r>
            <a:r>
              <a:rPr lang="en-ID" dirty="0" err="1"/>
              <a:t>bekerja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tepat</a:t>
            </a:r>
            <a:r>
              <a:rPr lang="en-ID" dirty="0"/>
              <a:t> </a:t>
            </a:r>
            <a:r>
              <a:rPr lang="en-ID" dirty="0" err="1"/>
              <a:t>sasaran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 err="1"/>
              <a:t>Risiko</a:t>
            </a:r>
            <a:r>
              <a:rPr lang="en-ID" dirty="0"/>
              <a:t> mana yang paling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di </a:t>
            </a:r>
            <a:r>
              <a:rPr lang="en-ID" dirty="0" err="1"/>
              <a:t>tempat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?</a:t>
            </a:r>
          </a:p>
          <a:p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mitigasi</a:t>
            </a:r>
            <a:r>
              <a:rPr lang="en-ID" dirty="0"/>
              <a:t> </a:t>
            </a:r>
            <a:r>
              <a:rPr lang="en-ID" dirty="0" err="1"/>
              <a:t>tim</a:t>
            </a:r>
            <a:r>
              <a:rPr lang="en-ID" dirty="0"/>
              <a:t> </a:t>
            </a:r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kuat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/>
              <a:t>Di </a:t>
            </a:r>
            <a:r>
              <a:rPr lang="en-ID" dirty="0" err="1"/>
              <a:t>titik</a:t>
            </a:r>
            <a:r>
              <a:rPr lang="en-ID" dirty="0"/>
              <a:t> mana </a:t>
            </a:r>
            <a:r>
              <a:rPr lang="en-ID" dirty="0" err="1"/>
              <a:t>miskomunikasi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muncul</a:t>
            </a:r>
            <a:r>
              <a:rPr lang="en-ID" dirty="0"/>
              <a:t>?</a:t>
            </a:r>
          </a:p>
          <a:p>
            <a:r>
              <a:rPr lang="en-ID" dirty="0"/>
              <a:t>Apa SOP </a:t>
            </a:r>
            <a:r>
              <a:rPr lang="en-ID" dirty="0" err="1"/>
              <a:t>kolaborasi</a:t>
            </a:r>
            <a:r>
              <a:rPr lang="en-ID" dirty="0"/>
              <a:t> yang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disepakati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/>
              <a:t>Apa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langkah</a:t>
            </a:r>
            <a:r>
              <a:rPr lang="en-ID" dirty="0"/>
              <a:t> </a:t>
            </a:r>
            <a:r>
              <a:rPr lang="en-ID" dirty="0" err="1"/>
              <a:t>kecil</a:t>
            </a:r>
            <a:r>
              <a:rPr lang="en-ID" dirty="0"/>
              <a:t>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besok</a:t>
            </a:r>
            <a:r>
              <a:rPr lang="en-ID" dirty="0"/>
              <a:t>?</a:t>
            </a:r>
          </a:p>
          <a:p>
            <a:r>
              <a:rPr lang="en-ID" dirty="0" err="1"/>
              <a:t>Dukungan</a:t>
            </a:r>
            <a:r>
              <a:rPr lang="en-ID" dirty="0"/>
              <a:t> </a:t>
            </a:r>
            <a:r>
              <a:rPr lang="en-ID" dirty="0" err="1"/>
              <a:t>apa</a:t>
            </a:r>
            <a:r>
              <a:rPr lang="en-ID" dirty="0"/>
              <a:t> yang </a:t>
            </a:r>
            <a:r>
              <a:rPr lang="en-ID" dirty="0" err="1"/>
              <a:t>kamu</a:t>
            </a:r>
            <a:r>
              <a:rPr lang="en-ID" dirty="0"/>
              <a:t> </a:t>
            </a:r>
            <a:r>
              <a:rPr lang="en-ID" dirty="0" err="1"/>
              <a:t>butuhkan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/>
              <a:t>Apa </a:t>
            </a:r>
            <a:r>
              <a:rPr lang="en-ID" dirty="0" err="1"/>
              <a:t>penyebab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rapat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efektif</a:t>
            </a:r>
            <a:r>
              <a:rPr lang="en-ID" dirty="0"/>
              <a:t>?</a:t>
            </a:r>
          </a:p>
          <a:p>
            <a:r>
              <a:rPr lang="en-ID" dirty="0"/>
              <a:t>Apa </a:t>
            </a:r>
            <a:r>
              <a:rPr lang="en-ID" dirty="0" err="1"/>
              <a:t>perubahan</a:t>
            </a:r>
            <a:r>
              <a:rPr lang="en-ID" dirty="0"/>
              <a:t> </a:t>
            </a:r>
            <a:r>
              <a:rPr lang="en-ID" dirty="0" err="1"/>
              <a:t>kecil</a:t>
            </a:r>
            <a:r>
              <a:rPr lang="en-ID" dirty="0"/>
              <a:t>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minggu</a:t>
            </a:r>
            <a:r>
              <a:rPr lang="en-ID" dirty="0"/>
              <a:t> </a:t>
            </a:r>
            <a:r>
              <a:rPr lang="en-ID" dirty="0" err="1"/>
              <a:t>depan</a:t>
            </a:r>
            <a:r>
              <a:rPr lang="en-ID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1" dirty="0"/>
              <a:t>💡 </a:t>
            </a:r>
            <a:r>
              <a:rPr lang="en-ID" b="1" dirty="0" err="1"/>
              <a:t>Refleksi</a:t>
            </a:r>
            <a:endParaRPr lang="en-ID" b="1" dirty="0"/>
          </a:p>
          <a:p>
            <a:r>
              <a:rPr lang="en-ID" dirty="0"/>
              <a:t>Apa </a:t>
            </a:r>
            <a:r>
              <a:rPr lang="en-ID" dirty="0" err="1"/>
              <a:t>pencapaian</a:t>
            </a:r>
            <a:r>
              <a:rPr lang="en-ID" dirty="0"/>
              <a:t> yang paling </a:t>
            </a:r>
            <a:r>
              <a:rPr lang="en-ID" dirty="0" err="1"/>
              <a:t>membuatmu</a:t>
            </a:r>
            <a:r>
              <a:rPr lang="en-ID" dirty="0"/>
              <a:t> </a:t>
            </a:r>
            <a:r>
              <a:rPr lang="en-ID" dirty="0" err="1"/>
              <a:t>bangga</a:t>
            </a:r>
            <a:r>
              <a:rPr lang="en-ID" dirty="0"/>
              <a:t>?</a:t>
            </a:r>
          </a:p>
          <a:p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menciptakan</a:t>
            </a:r>
            <a:r>
              <a:rPr lang="en-ID" dirty="0"/>
              <a:t> </a:t>
            </a:r>
            <a:r>
              <a:rPr lang="en-ID" dirty="0" err="1"/>
              <a:t>budaya</a:t>
            </a:r>
            <a:r>
              <a:rPr lang="en-ID" dirty="0"/>
              <a:t> </a:t>
            </a:r>
            <a:r>
              <a:rPr lang="en-ID" dirty="0" err="1"/>
              <a:t>apresiasi</a:t>
            </a:r>
            <a:r>
              <a:rPr lang="en-ID" dirty="0"/>
              <a:t> di </a:t>
            </a:r>
            <a:r>
              <a:rPr lang="en-ID" dirty="0" err="1"/>
              <a:t>tempat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06948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Kumpulan aktivitas pendukung sesi training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526399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Part 3</a:t>
            </a:r>
            <a:endParaRPr lang="en-US" sz="3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1323"/>
            <a:ext cx="7850505" cy="650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39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39. Silent Collaboration Task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207895"/>
            <a:ext cx="297703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279356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Melatih kerja sama nonverbal dan fokus.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564874" y="2207895"/>
            <a:ext cx="3095982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564874" y="2793563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Peserta diberi tugas (misal menyusun pola angka, puzzle kecil).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349805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Tidak boleh bicara</a:t>
            </a: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selama aktivitas berlangsung.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3885009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Hanya boleh menggunakan gesture.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427196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Tim menyelesaikan tugas dalam batas waktu.</a:t>
            </a:r>
            <a:endParaRPr lang="en-US" sz="15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882158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6042"/>
            <a:ext cx="6851809" cy="650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39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40. Rapid Ideation Relay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76343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077760"/>
            <a:ext cx="4215289" cy="2286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3790" y="2222659"/>
            <a:ext cx="2480905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2667119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Menghasilkan ide dalam jumlah besar secara cepat.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207437" y="176343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2077760"/>
            <a:ext cx="4215408" cy="2286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07437" y="2222659"/>
            <a:ext cx="397406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Peserta dibagi dalam kelompok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207437" y="2651879"/>
            <a:ext cx="42154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Duduk melingkar.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621203" y="176343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2077760"/>
            <a:ext cx="4215289" cy="2286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21203" y="2222659"/>
            <a:ext cx="295906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Kertas kosong berputar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21203" y="2651879"/>
            <a:ext cx="42152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Setiap 10 detik.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364938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93790" y="3963710"/>
            <a:ext cx="6422112" cy="2286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93790" y="4108609"/>
            <a:ext cx="358151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Setiap orang menambahkan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93790" y="4537829"/>
            <a:ext cx="642211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1 ide.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414260" y="364938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414260" y="3963710"/>
            <a:ext cx="6422231" cy="22860"/>
          </a:xfrm>
          <a:prstGeom prst="rect">
            <a:avLst/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14260" y="410860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Setelah 2 putaran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414260" y="4537829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Kelompok memilih 3 ide terbaik untuk dijelaskan.</a:t>
            </a:r>
            <a:endParaRPr lang="en-US" sz="15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227439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0493"/>
            <a:ext cx="9180671" cy="650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39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41. Motivation Mapping Workshop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820347"/>
            <a:ext cx="297703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250531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Membantu peserta mengenali motivator internal &amp; eksternal sehingga performa kerja meningkat.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120509"/>
            <a:ext cx="3095982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2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805476"/>
            <a:ext cx="6521410" cy="7937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2148" y="4797623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Peserta menuliskan 5 hal yang membuat mereka termotivasi.</a:t>
            </a:r>
            <a:endParaRPr lang="en-US" sz="15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805476"/>
            <a:ext cx="6521410" cy="7937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13558" y="4797623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Kategorikan: </a:t>
            </a:r>
            <a:r>
              <a:rPr lang="en-US" sz="15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Intrinsic / Extrinsic</a:t>
            </a: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313521"/>
            <a:ext cx="6521410" cy="7937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92148" y="6305669"/>
            <a:ext cx="612469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Diskusikan secara berpasangan: motivator mana yang paling kuat?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5313521"/>
            <a:ext cx="6521410" cy="79379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13558" y="6305669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Kelompok membuat strategi meningkatkan motivasi kerja tim.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4838"/>
            <a:ext cx="9256038" cy="650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39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42. Workplace Values Clarification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711410"/>
            <a:ext cx="297703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297079"/>
            <a:ext cx="560296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Mengidentifikasi nilai kerja yang penting dan menyelaraskan perilaku tim.</a:t>
            </a:r>
            <a:endParaRPr lang="en-US" sz="1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155400"/>
            <a:ext cx="22860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88480" y="2711410"/>
            <a:ext cx="3095982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888480" y="3297079"/>
            <a:ext cx="69556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Berikan daftar nilai kerja (integritas, kolaborasi, akuntabilitas, dll).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888480" y="3684032"/>
            <a:ext cx="69556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Peserta memilih </a:t>
            </a:r>
            <a:r>
              <a:rPr lang="en-US" sz="15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3 nilai terpenting</a:t>
            </a: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untuk diri mereka.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888480" y="4070985"/>
            <a:ext cx="69556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Diskusi kelompok: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888480" y="4457938"/>
            <a:ext cx="69556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nilai apakah yang paling dominan di tim?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888480" y="4844891"/>
            <a:ext cx="69556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perilaku apa yang mencerminkannya?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888480" y="5231844"/>
            <a:ext cx="69556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Cocokkan nilai tim dengan realitas di lapangan.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1118"/>
            <a:ext cx="8228052" cy="650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39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43. Collaboration Grid Activity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050971"/>
            <a:ext cx="297703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273593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Mengidentifikasi pola kerja sama dan memperbaiki alur koordinasi.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351133"/>
            <a:ext cx="3095982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93790" y="4036100"/>
            <a:ext cx="6422231" cy="1143476"/>
          </a:xfrm>
          <a:prstGeom prst="roundRect">
            <a:avLst>
              <a:gd name="adj" fmla="val 2604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2148" y="4234458"/>
            <a:ext cx="255853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Buat grid sederhana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92148" y="4663678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Saya Bantu → Saya Butuh Bantuan → Tidak Perlu</a:t>
            </a: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14379" y="4036100"/>
            <a:ext cx="6422231" cy="1143476"/>
          </a:xfrm>
          <a:prstGeom prst="roundRect">
            <a:avLst>
              <a:gd name="adj" fmla="val 2604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12737" y="4234458"/>
            <a:ext cx="401157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Peserta menempatkan aktivitas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612737" y="4663678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Dalam grid tersebut.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5377934"/>
            <a:ext cx="6422231" cy="1530429"/>
          </a:xfrm>
          <a:prstGeom prst="roundRect">
            <a:avLst>
              <a:gd name="adj" fmla="val 1945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92148" y="557629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Kelompok melihat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92148" y="6005513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di mana terjadi overload?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92148" y="6392466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siapa yang bisa saling support?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14379" y="5377934"/>
            <a:ext cx="6422231" cy="1530429"/>
          </a:xfrm>
          <a:prstGeom prst="roundRect">
            <a:avLst>
              <a:gd name="adj" fmla="val 1945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12737" y="5576292"/>
            <a:ext cx="305133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Buat rencana kolaborasi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612737" y="6005513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Mingguan.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1433"/>
            <a:ext cx="8878014" cy="650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39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44. Workplace Scenario Debates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721287"/>
            <a:ext cx="297703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240625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Melatih argumentasi, critical thinking, dan komunikasi persuasif.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021449"/>
            <a:ext cx="3095982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93790" y="3706416"/>
            <a:ext cx="4215289" cy="1825466"/>
          </a:xfrm>
          <a:prstGeom prst="roundRect">
            <a:avLst>
              <a:gd name="adj" fmla="val 1631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603778" y="3904774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67489" y="4034909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92148" y="4698444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Fasilitator memberi dilema kerja (misal: "deadline atau kualitas?").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207437" y="3706416"/>
            <a:ext cx="4215408" cy="1825466"/>
          </a:xfrm>
          <a:prstGeom prst="roundRect">
            <a:avLst>
              <a:gd name="adj" fmla="val 1631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17425" y="3904774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81136" y="4034909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05795" y="4698444"/>
            <a:ext cx="38186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Kelompok A menjadi pro, kelompok B menjadi kontra.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621203" y="3706416"/>
            <a:ext cx="4215289" cy="1825466"/>
          </a:xfrm>
          <a:prstGeom prst="roundRect">
            <a:avLst>
              <a:gd name="adj" fmla="val 1631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431191" y="3904774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594902" y="4034909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19561" y="4698444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Masing-masing menyampaikan argumen 1 menit.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93790" y="5730240"/>
            <a:ext cx="6422112" cy="1507927"/>
          </a:xfrm>
          <a:prstGeom prst="roundRect">
            <a:avLst>
              <a:gd name="adj" fmla="val 1974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707130" y="5928598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70841" y="6058733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4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92148" y="6722269"/>
            <a:ext cx="60253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Tukar posisi: pro menjadi kontra, lalu ulangi argumen.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414260" y="5730240"/>
            <a:ext cx="6422231" cy="1507927"/>
          </a:xfrm>
          <a:prstGeom prst="roundRect">
            <a:avLst>
              <a:gd name="adj" fmla="val 1974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327719" y="5928598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491430" y="6058733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5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612618" y="6722269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Diskusi akhir: insight apa yang muncul?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2098"/>
            <a:ext cx="8649295" cy="650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39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45. Customer Persona Mapping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688669"/>
            <a:ext cx="297703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27433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Memahami kebutuhan pelanggan internal &amp; eksternal.</a:t>
            </a:r>
            <a:endParaRPr lang="en-US" sz="1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815120"/>
            <a:ext cx="22860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64874" y="2688669"/>
            <a:ext cx="3095982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7564874" y="3274338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Peserta menggambar "persona" pelanggan (internal/eksternal).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564874" y="3978831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Isi 4 aspek: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564874" y="4365784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kebutuhan utama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564874" y="475273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frustrasi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564874" y="513969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harapan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564874" y="552664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standar layanan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564874" y="591359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Kelompok mempresentasikan persona masing-masing.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564874" y="6300549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Buat strategi layanan lebih baik.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0203"/>
            <a:ext cx="7531537" cy="650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39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46. Project Risk Simulation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400056"/>
            <a:ext cx="297703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208502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Melatih identifikasi risiko &amp; mitigasi dalam manajemen proyek.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2700218"/>
            <a:ext cx="3095982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93790" y="3385185"/>
            <a:ext cx="6422231" cy="2786658"/>
          </a:xfrm>
          <a:prstGeom prst="roundRect">
            <a:avLst>
              <a:gd name="adj" fmla="val 3938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0930" y="3385185"/>
            <a:ext cx="91440" cy="2786658"/>
          </a:xfrm>
          <a:prstGeom prst="roundRect">
            <a:avLst>
              <a:gd name="adj" fmla="val 32558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83588" y="36064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Skenario proyek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83588" y="4035623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Fasilitator memberikan skenario proyek (misal: peluncuran produk).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14379" y="3385185"/>
            <a:ext cx="6422231" cy="2786658"/>
          </a:xfrm>
          <a:prstGeom prst="roundRect">
            <a:avLst>
              <a:gd name="adj" fmla="val 3938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91519" y="3385185"/>
            <a:ext cx="91440" cy="2786658"/>
          </a:xfrm>
          <a:prstGeom prst="roundRect">
            <a:avLst>
              <a:gd name="adj" fmla="val 32558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04177" y="36064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Identifikasi risiko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704177" y="4035623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Kelompok mengidentifikasi risiko dalam kategori: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704177" y="4472226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waktu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704177" y="4859179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biaya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704177" y="5246132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SDM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704177" y="5633085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perubahan kebutuhan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93790" y="6370201"/>
            <a:ext cx="6422231" cy="1189196"/>
          </a:xfrm>
          <a:prstGeom prst="roundRect">
            <a:avLst>
              <a:gd name="adj" fmla="val 9227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0930" y="6370201"/>
            <a:ext cx="91440" cy="1189196"/>
          </a:xfrm>
          <a:prstGeom prst="roundRect">
            <a:avLst>
              <a:gd name="adj" fmla="val 32558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83588" y="65914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Strategi mitigasi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83588" y="7020639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Buat strategi mitigasinya.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414379" y="6370201"/>
            <a:ext cx="6422231" cy="1189196"/>
          </a:xfrm>
          <a:prstGeom prst="roundRect">
            <a:avLst>
              <a:gd name="adj" fmla="val 9227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91519" y="6370201"/>
            <a:ext cx="91440" cy="1189196"/>
          </a:xfrm>
          <a:prstGeom prst="roundRect">
            <a:avLst>
              <a:gd name="adj" fmla="val 32558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04177" y="65914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Presentasi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7704177" y="7020639"/>
            <a:ext cx="59112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Presentasikan solusi.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55" y="538282"/>
            <a:ext cx="12254032" cy="634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38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47. Cross-Department Collaboration Workshop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782955" y="1250990"/>
            <a:ext cx="2936319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82955" y="1926788"/>
            <a:ext cx="13064490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Memperbaiki kerja sama antar departemen yang sering terjadi miskomunikasi.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82955" y="2533531"/>
            <a:ext cx="3053953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82955" y="3209330"/>
            <a:ext cx="440412" cy="440412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6298" y="3246001"/>
            <a:ext cx="293608" cy="366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419106" y="3276600"/>
            <a:ext cx="2446853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Simulasikan situasi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419106" y="3699748"/>
            <a:ext cx="5773698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Di mana 2–3 divisi harus bekerja bersama.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37477" y="3209330"/>
            <a:ext cx="440412" cy="440412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10820" y="3246001"/>
            <a:ext cx="293608" cy="366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073628" y="3276600"/>
            <a:ext cx="2446853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Berikan tugas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073628" y="3699748"/>
            <a:ext cx="5773817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Yang memerlukan koordinasi lintas fungsi.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82955" y="4404360"/>
            <a:ext cx="440412" cy="440412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6298" y="4441031"/>
            <a:ext cx="293608" cy="366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3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419106" y="4471630"/>
            <a:ext cx="2446853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Jalankan simulasi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419106" y="4894778"/>
            <a:ext cx="5773698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Peserta menjalankan simulasi 7–10 menit.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37477" y="4404360"/>
            <a:ext cx="440412" cy="440412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10820" y="4441031"/>
            <a:ext cx="293608" cy="366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4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8073628" y="4471630"/>
            <a:ext cx="2446853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Evaluasi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073628" y="4894778"/>
            <a:ext cx="5773817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Hambatan komunikasi dan alur kerja.</a:t>
            </a:r>
            <a:endParaRPr lang="en-US" sz="15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55" y="5428059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8246"/>
            <a:ext cx="8418076" cy="650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39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48. Personal Growth Roadmap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38099"/>
            <a:ext cx="297703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262306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Membantu peserta merancang rencana pengembangan diri berbasis kompetensi.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238262"/>
            <a:ext cx="3095982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93790" y="3923228"/>
            <a:ext cx="4215289" cy="3098006"/>
          </a:xfrm>
          <a:prstGeom prst="roundRect">
            <a:avLst>
              <a:gd name="adj" fmla="val 961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92148" y="4121587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859" y="4285178"/>
            <a:ext cx="267891" cy="2678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2148" y="49152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Pilih kompetensi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992148" y="5344478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Peserta memilih 1 kompetensi yang ingin ditingkatkan.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207437" y="3923228"/>
            <a:ext cx="4215408" cy="3098006"/>
          </a:xfrm>
          <a:prstGeom prst="roundRect">
            <a:avLst>
              <a:gd name="adj" fmla="val 961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405795" y="4121587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69506" y="4285178"/>
            <a:ext cx="267891" cy="2678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05795" y="49152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Isi 4 kotak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5405795" y="5344478"/>
            <a:ext cx="381869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"Saya saat ini"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5405795" y="5731431"/>
            <a:ext cx="381869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"Target saya"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5405795" y="6118384"/>
            <a:ext cx="381869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"Langkah 30 hari"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5405795" y="6505337"/>
            <a:ext cx="381869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"Dukungan yang dibutuhkan"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9621203" y="3923228"/>
            <a:ext cx="4215289" cy="3098006"/>
          </a:xfrm>
          <a:prstGeom prst="roundRect">
            <a:avLst>
              <a:gd name="adj" fmla="val 961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9819561" y="4121587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1D1D1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83272" y="4285178"/>
            <a:ext cx="267891" cy="26789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819561" y="49152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Sharing &amp; revisi</a:t>
            </a:r>
            <a:endParaRPr lang="en-US" sz="1950" dirty="0"/>
          </a:p>
        </p:txBody>
      </p:sp>
      <p:sp>
        <p:nvSpPr>
          <p:cNvPr id="23" name="Text 18"/>
          <p:cNvSpPr/>
          <p:nvPr/>
        </p:nvSpPr>
        <p:spPr>
          <a:xfrm>
            <a:off x="9819561" y="5344478"/>
            <a:ext cx="38185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Sharing pasangan lalu revisi rencana.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669" y="538758"/>
            <a:ext cx="7650004" cy="635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38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49. Meeting Efficiency Audit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783669" y="1252180"/>
            <a:ext cx="2938939" cy="38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83669" y="1928574"/>
            <a:ext cx="13063061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Mengurangi pemborosan waktu dalam rapat.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83669" y="2535912"/>
            <a:ext cx="3056334" cy="38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83669" y="3408164"/>
            <a:ext cx="2449116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Penilaian 5 aspek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83669" y="3910132"/>
            <a:ext cx="6292572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Peserta menilai rapat mingguan berdasarkan 5 aspek: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3669" y="4399955"/>
            <a:ext cx="6292572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tujuan jelas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3669" y="4781907"/>
            <a:ext cx="6292572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durasi tepat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3669" y="5163860"/>
            <a:ext cx="6292572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partisipasi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3669" y="5545812"/>
            <a:ext cx="6292572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keputusan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3669" y="5927765"/>
            <a:ext cx="6292572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follow-up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61778" y="3408164"/>
            <a:ext cx="2952988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Analisis &amp; rekomendasi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561778" y="3910132"/>
            <a:ext cx="6292572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Skor 1–5.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61778" y="4292084"/>
            <a:ext cx="6292572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Kelompok menganalisis area yang paling buruk.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61778" y="4674037"/>
            <a:ext cx="6292572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Buat rekomendasi perbaikan.</a:t>
            </a:r>
            <a:endParaRPr lang="en-US" sz="15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1778" y="5207913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93790" y="1468874"/>
            <a:ext cx="12079605" cy="650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🧩</a:t>
            </a:r>
            <a:r>
              <a:rPr lang="en-US" sz="39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50. Personal &amp; Team Achievement Showcase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793790" y="2198727"/>
            <a:ext cx="2977039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🎯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Tujuan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93790" y="288369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D1D1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Meningkatkan apresiasi, moral tim, dan rasa bangga terhadap kontribusi.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3498890"/>
            <a:ext cx="3095982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🧭</a:t>
            </a:r>
            <a:r>
              <a:rPr lang="en-US" sz="2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Langkah-langkah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793790" y="4183856"/>
            <a:ext cx="6422231" cy="1189196"/>
          </a:xfrm>
          <a:prstGeom prst="roundRect">
            <a:avLst>
              <a:gd name="adj" fmla="val 2503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15008" y="4405074"/>
            <a:ext cx="257210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Tuliskan pencapaian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015008" y="4834295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Peserta menuliskan 1 pencapaian pribadi &amp; 1 pencapaian tim.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414379" y="4183856"/>
            <a:ext cx="6422231" cy="1189196"/>
          </a:xfrm>
          <a:prstGeom prst="roundRect">
            <a:avLst>
              <a:gd name="adj" fmla="val 2503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635597" y="4405074"/>
            <a:ext cx="306288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Tempelkan atau bagikan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7635597" y="4834295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Tempelkan di board atau bagikan secara verbal.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793790" y="5571411"/>
            <a:ext cx="6422231" cy="1189196"/>
          </a:xfrm>
          <a:prstGeom prst="roundRect">
            <a:avLst>
              <a:gd name="adj" fmla="val 2503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15008" y="57926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Apresiasi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1015008" y="6221849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Peserta lain memberikan apresiasi ("Saya bangga karena…").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7414379" y="5571411"/>
            <a:ext cx="6422231" cy="1189196"/>
          </a:xfrm>
          <a:prstGeom prst="roundRect">
            <a:avLst>
              <a:gd name="adj" fmla="val 2503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635597" y="57926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Penutupan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7635597" y="6221849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Fasilitator menutup dengan highlight kekuatan tim.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911</Words>
  <Application>Microsoft Macintosh PowerPoint</Application>
  <PresentationFormat>Custom</PresentationFormat>
  <Paragraphs>204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Tomorrow Light</vt:lpstr>
      <vt:lpstr>Tomorrow Semi Bold</vt:lpstr>
      <vt:lpstr>Tomorrow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izzudin abdurahman</cp:lastModifiedBy>
  <cp:revision>2</cp:revision>
  <dcterms:created xsi:type="dcterms:W3CDTF">2025-12-06T15:56:46Z</dcterms:created>
  <dcterms:modified xsi:type="dcterms:W3CDTF">2025-12-06T16:08:52Z</dcterms:modified>
</cp:coreProperties>
</file>