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301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268"/>
      </p:cViewPr>
      <p:guideLst/>
    </p:cSldViewPr>
  </p:slideViewPr>
  <p:notesTextViewPr>
    <p:cViewPr>
      <p:scale>
        <a:sx n="1" d="1"/>
        <a:sy n="1" d="1"/>
      </p:scale>
      <p:origin x="0" y="-26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6F0D3-CA6F-42CA-A111-7140714C868D}" type="datetimeFigureOut">
              <a:rPr lang="en-ID" smtClean="0"/>
              <a:t>01/11/2025</a:t>
            </a:fld>
            <a:endParaRPr lang="en-ID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EB320-9366-44C5-9929-57082E3E7F6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677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jawaban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2. Rumah Kita</a:t>
            </a:r>
            <a:br>
              <a:rPr lang="en-US" dirty="0"/>
            </a:br>
            <a:r>
              <a:rPr lang="en-US" dirty="0"/>
              <a:t>6. 19</a:t>
            </a:r>
            <a:br>
              <a:rPr lang="en-US" dirty="0"/>
            </a:br>
            <a:r>
              <a:rPr lang="en-US" dirty="0"/>
              <a:t>7. Alan </a:t>
            </a:r>
            <a:r>
              <a:rPr lang="en-US"/>
              <a:t>Budikusuma</a:t>
            </a:r>
            <a:endParaRPr lang="en-ID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EB320-9366-44C5-9929-57082E3E7F6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569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16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7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9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58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2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2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1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5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5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9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46AA-1EC0-4433-9956-E798E94A6FB7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10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73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3200" cy="13144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853369"/>
            <a:ext cx="10363200" cy="3088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0D4E46AA-1EC0-4433-9956-E798E94A6FB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60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87000"/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SzPct val="87000"/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men in suits&#10;&#10;Description automatically generated with low confidence">
            <a:extLst>
              <a:ext uri="{FF2B5EF4-FFF2-40B4-BE49-F238E27FC236}">
                <a16:creationId xmlns:a16="http://schemas.microsoft.com/office/drawing/2014/main" id="{3AF720C6-A289-4AE2-8BAF-2B01F9B276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40" b="13632"/>
          <a:stretch/>
        </p:blipFill>
        <p:spPr>
          <a:xfrm>
            <a:off x="1" y="152"/>
            <a:ext cx="12191999" cy="685784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8B2ECD5-47B1-47AD-AC9D-04506463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CCCBF-09F3-467F-916B-79F16389F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8" y="1371600"/>
            <a:ext cx="4916478" cy="2933952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SECRET MISSION</a:t>
            </a:r>
            <a:endParaRPr lang="en-ID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0A3BA-E7A5-491F-B67D-A3F8A8F44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9" y="4584879"/>
            <a:ext cx="4916477" cy="1287887"/>
          </a:xfrm>
        </p:spPr>
        <p:txBody>
          <a:bodyPr anchor="b">
            <a:normAutofit/>
          </a:bodyPr>
          <a:lstStyle/>
          <a:p>
            <a:pPr algn="r"/>
            <a:r>
              <a:rPr lang="en-US" i="1" dirty="0">
                <a:solidFill>
                  <a:srgbClr val="FFFFFF"/>
                </a:solidFill>
              </a:rPr>
              <a:t>WORK AS A TEAM AND ACCOMPLISH YOUR MISSION</a:t>
            </a:r>
            <a:endParaRPr lang="en-ID" i="1" dirty="0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222043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20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F549C5-B5B6-4898-8630-053866568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C7D22-71E3-4C7B-A9DD-5B9A69581B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9" b="10661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F0C41-69E4-4B8C-B834-5C0F2BAF9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371600"/>
            <a:ext cx="4532128" cy="3607591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Purpose</a:t>
            </a:r>
            <a:endParaRPr lang="en-ID" sz="60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43DFA6-AAD3-45D1-9463-5131054B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4604-31F6-4D77-838A-17E37472E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9156" y="1371601"/>
            <a:ext cx="4694326" cy="4419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For Having FUN</a:t>
            </a:r>
          </a:p>
          <a:p>
            <a:r>
              <a:rPr lang="en-US" sz="4800" dirty="0">
                <a:solidFill>
                  <a:srgbClr val="FFFFFF"/>
                </a:solidFill>
              </a:rPr>
              <a:t>Teamwork</a:t>
            </a:r>
          </a:p>
          <a:p>
            <a:r>
              <a:rPr lang="en-ID" sz="4800" dirty="0">
                <a:solidFill>
                  <a:srgbClr val="FFFFFF"/>
                </a:solidFill>
              </a:rPr>
              <a:t>Choose priority</a:t>
            </a:r>
          </a:p>
        </p:txBody>
      </p:sp>
    </p:spTree>
    <p:extLst>
      <p:ext uri="{BB962C8B-B14F-4D97-AF65-F5344CB8AC3E}">
        <p14:creationId xmlns:p14="http://schemas.microsoft.com/office/powerpoint/2010/main" val="235438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in a suit&#10;&#10;Description automatically generated with medium confidence">
            <a:extLst>
              <a:ext uri="{FF2B5EF4-FFF2-40B4-BE49-F238E27FC236}">
                <a16:creationId xmlns:a16="http://schemas.microsoft.com/office/drawing/2014/main" id="{303EA608-39F7-40CE-84FD-3F7CCA3B0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07" y="571500"/>
            <a:ext cx="7620000" cy="57150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B65011-1384-4BBA-B20B-24029578EE19}"/>
              </a:ext>
            </a:extLst>
          </p:cNvPr>
          <p:cNvSpPr/>
          <p:nvPr/>
        </p:nvSpPr>
        <p:spPr>
          <a:xfrm>
            <a:off x="876692" y="711200"/>
            <a:ext cx="3959468" cy="119301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Masing-masing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tim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akan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mendapatkan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misi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yang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harus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diselesaikan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bersama</a:t>
            </a:r>
            <a:endParaRPr lang="en-ID" sz="2400" b="1" dirty="0">
              <a:solidFill>
                <a:schemeClr val="tx1"/>
              </a:solidFill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385635-6858-4532-976D-AAFB7D3F9BBD}"/>
              </a:ext>
            </a:extLst>
          </p:cNvPr>
          <p:cNvSpPr/>
          <p:nvPr/>
        </p:nvSpPr>
        <p:spPr>
          <a:xfrm>
            <a:off x="876692" y="2083586"/>
            <a:ext cx="3959468" cy="119301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Setiap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misi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memiliki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bobot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poin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yang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berbeda-beda</a:t>
            </a:r>
            <a:endParaRPr lang="en-ID" sz="2400" b="1" dirty="0">
              <a:solidFill>
                <a:schemeClr val="tx1"/>
              </a:solidFill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FD6EE3-CEA1-45CA-BD8C-1C20733D54BD}"/>
              </a:ext>
            </a:extLst>
          </p:cNvPr>
          <p:cNvSpPr/>
          <p:nvPr/>
        </p:nvSpPr>
        <p:spPr>
          <a:xfrm>
            <a:off x="795412" y="3588536"/>
            <a:ext cx="3959468" cy="119301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Laporkan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misi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yang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berhasil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diselesaikan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ke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fasilitator</a:t>
            </a:r>
            <a:endParaRPr lang="en-ID" sz="2400" b="1" dirty="0">
              <a:solidFill>
                <a:schemeClr val="tx1"/>
              </a:solidFill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44F5D3-156C-45B1-BD50-218933C18915}"/>
              </a:ext>
            </a:extLst>
          </p:cNvPr>
          <p:cNvSpPr/>
          <p:nvPr/>
        </p:nvSpPr>
        <p:spPr>
          <a:xfrm>
            <a:off x="876692" y="5093487"/>
            <a:ext cx="3959468" cy="119301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Hanya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tersedia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waktu</a:t>
            </a:r>
            <a:r>
              <a:rPr lang="en-US" sz="2400" b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20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menit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untuk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menyelesaikan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misi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 yang </a:t>
            </a:r>
            <a:r>
              <a:rPr lang="en-US" sz="2400" b="1" dirty="0" err="1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diberikan</a:t>
            </a:r>
            <a:r>
              <a:rPr lang="en-US" sz="2400" b="1" dirty="0">
                <a:solidFill>
                  <a:schemeClr val="tx1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.</a:t>
            </a:r>
            <a:endParaRPr lang="en-ID" sz="2400" b="1" dirty="0">
              <a:solidFill>
                <a:schemeClr val="tx1"/>
              </a:solidFill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99DC109-3F13-4398-8E72-B3FACBDE0922}"/>
              </a:ext>
            </a:extLst>
          </p:cNvPr>
          <p:cNvCxnSpPr>
            <a:cxnSpLocks/>
          </p:cNvCxnSpPr>
          <p:nvPr/>
        </p:nvCxnSpPr>
        <p:spPr>
          <a:xfrm flipH="1" flipV="1">
            <a:off x="5354320" y="1090828"/>
            <a:ext cx="1666240" cy="81338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190675-0808-4B50-9CF1-F7E72B4F8ADC}"/>
              </a:ext>
            </a:extLst>
          </p:cNvPr>
          <p:cNvCxnSpPr>
            <a:cxnSpLocks/>
          </p:cNvCxnSpPr>
          <p:nvPr/>
        </p:nvCxnSpPr>
        <p:spPr>
          <a:xfrm flipH="1">
            <a:off x="5354320" y="2842652"/>
            <a:ext cx="166624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827A7DD-74DF-4BA9-9EE6-B1FB3C3A5829}"/>
              </a:ext>
            </a:extLst>
          </p:cNvPr>
          <p:cNvCxnSpPr>
            <a:cxnSpLocks/>
          </p:cNvCxnSpPr>
          <p:nvPr/>
        </p:nvCxnSpPr>
        <p:spPr>
          <a:xfrm flipH="1">
            <a:off x="5354320" y="4185042"/>
            <a:ext cx="166624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AEE61A6-AF8A-4C16-B99A-B72A67ADF7BB}"/>
              </a:ext>
            </a:extLst>
          </p:cNvPr>
          <p:cNvCxnSpPr>
            <a:cxnSpLocks/>
          </p:cNvCxnSpPr>
          <p:nvPr/>
        </p:nvCxnSpPr>
        <p:spPr>
          <a:xfrm flipH="1">
            <a:off x="5354320" y="5287692"/>
            <a:ext cx="1767840" cy="4794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72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E6A9-C8E4-4B04-891B-F34A70EB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DB5B3-1322-4382-B776-DDE7CED26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06C6C98A-FF8E-4A33-A9E6-AB7083894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198487"/>
              </p:ext>
            </p:extLst>
          </p:nvPr>
        </p:nvGraphicFramePr>
        <p:xfrm>
          <a:off x="381000" y="106182"/>
          <a:ext cx="11430000" cy="801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478">
                  <a:extLst>
                    <a:ext uri="{9D8B030D-6E8A-4147-A177-3AD203B41FA5}">
                      <a16:colId xmlns:a16="http://schemas.microsoft.com/office/drawing/2014/main" val="1543962019"/>
                    </a:ext>
                  </a:extLst>
                </a:gridCol>
                <a:gridCol w="1259478">
                  <a:extLst>
                    <a:ext uri="{9D8B030D-6E8A-4147-A177-3AD203B41FA5}">
                      <a16:colId xmlns:a16="http://schemas.microsoft.com/office/drawing/2014/main" val="3716702040"/>
                    </a:ext>
                  </a:extLst>
                </a:gridCol>
                <a:gridCol w="8911044">
                  <a:extLst>
                    <a:ext uri="{9D8B030D-6E8A-4147-A177-3AD203B41FA5}">
                      <a16:colId xmlns:a16="http://schemas.microsoft.com/office/drawing/2014/main" val="3407478390"/>
                    </a:ext>
                  </a:extLst>
                </a:gridCol>
              </a:tblGrid>
              <a:tr h="80150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FECF07"/>
                          </a:solidFill>
                        </a:rPr>
                        <a:t>1</a:t>
                      </a:r>
                      <a:endParaRPr lang="en-ID" sz="4800" dirty="0">
                        <a:solidFill>
                          <a:srgbClr val="FECF07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200pt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Carilah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5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kesamaan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dalam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tim</a:t>
                      </a:r>
                      <a:endParaRPr lang="en-ID" sz="23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27905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29411537-93C4-481D-9850-F7EC62EDB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390988"/>
              </p:ext>
            </p:extLst>
          </p:nvPr>
        </p:nvGraphicFramePr>
        <p:xfrm>
          <a:off x="394483" y="4111357"/>
          <a:ext cx="11430000" cy="801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478">
                  <a:extLst>
                    <a:ext uri="{9D8B030D-6E8A-4147-A177-3AD203B41FA5}">
                      <a16:colId xmlns:a16="http://schemas.microsoft.com/office/drawing/2014/main" val="1543962019"/>
                    </a:ext>
                  </a:extLst>
                </a:gridCol>
                <a:gridCol w="1259478">
                  <a:extLst>
                    <a:ext uri="{9D8B030D-6E8A-4147-A177-3AD203B41FA5}">
                      <a16:colId xmlns:a16="http://schemas.microsoft.com/office/drawing/2014/main" val="3716702040"/>
                    </a:ext>
                  </a:extLst>
                </a:gridCol>
                <a:gridCol w="8911044">
                  <a:extLst>
                    <a:ext uri="{9D8B030D-6E8A-4147-A177-3AD203B41FA5}">
                      <a16:colId xmlns:a16="http://schemas.microsoft.com/office/drawing/2014/main" val="3407478390"/>
                    </a:ext>
                  </a:extLst>
                </a:gridCol>
              </a:tblGrid>
              <a:tr h="80150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FECF07"/>
                          </a:solidFill>
                        </a:rPr>
                        <a:t>5</a:t>
                      </a:r>
                      <a:endParaRPr lang="en-ID" sz="4800" dirty="0">
                        <a:solidFill>
                          <a:srgbClr val="FECF07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400pt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Carilah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1 orang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dari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team Anda yang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rumah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tinggalnya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paling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jauh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dan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sebutkan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namanya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bersama-sama</a:t>
                      </a:r>
                      <a:endParaRPr lang="en-ID" sz="23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27905"/>
                  </a:ext>
                </a:extLst>
              </a:tr>
            </a:tbl>
          </a:graphicData>
        </a:graphic>
      </p:graphicFrame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AD179568-B963-4013-A3C3-374BBC97F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860656"/>
              </p:ext>
            </p:extLst>
          </p:nvPr>
        </p:nvGraphicFramePr>
        <p:xfrm>
          <a:off x="388088" y="2286406"/>
          <a:ext cx="11430000" cy="8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478">
                  <a:extLst>
                    <a:ext uri="{9D8B030D-6E8A-4147-A177-3AD203B41FA5}">
                      <a16:colId xmlns:a16="http://schemas.microsoft.com/office/drawing/2014/main" val="1543962019"/>
                    </a:ext>
                  </a:extLst>
                </a:gridCol>
                <a:gridCol w="1259478">
                  <a:extLst>
                    <a:ext uri="{9D8B030D-6E8A-4147-A177-3AD203B41FA5}">
                      <a16:colId xmlns:a16="http://schemas.microsoft.com/office/drawing/2014/main" val="3716702040"/>
                    </a:ext>
                  </a:extLst>
                </a:gridCol>
                <a:gridCol w="8911044">
                  <a:extLst>
                    <a:ext uri="{9D8B030D-6E8A-4147-A177-3AD203B41FA5}">
                      <a16:colId xmlns:a16="http://schemas.microsoft.com/office/drawing/2014/main" val="3407478390"/>
                    </a:ext>
                  </a:extLst>
                </a:gridCol>
              </a:tblGrid>
              <a:tr h="614159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FECF07"/>
                          </a:solidFill>
                        </a:rPr>
                        <a:t>3</a:t>
                      </a:r>
                      <a:endParaRPr lang="en-ID" sz="4800" dirty="0">
                        <a:solidFill>
                          <a:srgbClr val="FECF07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100pt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Buatlah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gambar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dinosaurus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bagi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yang Namanya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inisial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A-J di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tim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, dan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gambar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katak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bagi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inisial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K-Z!</a:t>
                      </a:r>
                      <a:endParaRPr lang="en-ID" sz="23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27905"/>
                  </a:ext>
                </a:extLst>
              </a:tr>
            </a:tbl>
          </a:graphicData>
        </a:graphic>
      </p:graphicFrame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13A802B3-C42C-4B35-BA5A-B15597A8D388}"/>
              </a:ext>
            </a:extLst>
          </p:cNvPr>
          <p:cNvGraphicFramePr>
            <a:graphicFrameLocks noGrp="1"/>
          </p:cNvGraphicFramePr>
          <p:nvPr/>
        </p:nvGraphicFramePr>
        <p:xfrm>
          <a:off x="402263" y="3202584"/>
          <a:ext cx="11430000" cy="801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478">
                  <a:extLst>
                    <a:ext uri="{9D8B030D-6E8A-4147-A177-3AD203B41FA5}">
                      <a16:colId xmlns:a16="http://schemas.microsoft.com/office/drawing/2014/main" val="1543962019"/>
                    </a:ext>
                  </a:extLst>
                </a:gridCol>
                <a:gridCol w="1259478">
                  <a:extLst>
                    <a:ext uri="{9D8B030D-6E8A-4147-A177-3AD203B41FA5}">
                      <a16:colId xmlns:a16="http://schemas.microsoft.com/office/drawing/2014/main" val="3716702040"/>
                    </a:ext>
                  </a:extLst>
                </a:gridCol>
                <a:gridCol w="8911044">
                  <a:extLst>
                    <a:ext uri="{9D8B030D-6E8A-4147-A177-3AD203B41FA5}">
                      <a16:colId xmlns:a16="http://schemas.microsoft.com/office/drawing/2014/main" val="3407478390"/>
                    </a:ext>
                  </a:extLst>
                </a:gridCol>
              </a:tblGrid>
              <a:tr h="80150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FECF07"/>
                          </a:solidFill>
                        </a:rPr>
                        <a:t>4</a:t>
                      </a:r>
                      <a:endParaRPr lang="en-ID" sz="4800" dirty="0">
                        <a:solidFill>
                          <a:srgbClr val="FECF07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700pt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Tertawalah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bergilir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dari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usia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yang paling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muda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sampai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paling senior di Team Anda</a:t>
                      </a:r>
                      <a:endParaRPr lang="en-ID" sz="23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27905"/>
                  </a:ext>
                </a:extLst>
              </a:tr>
            </a:tbl>
          </a:graphicData>
        </a:graphic>
      </p:graphicFrame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092C947F-BDEA-4080-BF9D-50D699BC8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741462"/>
              </p:ext>
            </p:extLst>
          </p:nvPr>
        </p:nvGraphicFramePr>
        <p:xfrm>
          <a:off x="405805" y="5029383"/>
          <a:ext cx="11430000" cy="801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478">
                  <a:extLst>
                    <a:ext uri="{9D8B030D-6E8A-4147-A177-3AD203B41FA5}">
                      <a16:colId xmlns:a16="http://schemas.microsoft.com/office/drawing/2014/main" val="1543962019"/>
                    </a:ext>
                  </a:extLst>
                </a:gridCol>
                <a:gridCol w="1259478">
                  <a:extLst>
                    <a:ext uri="{9D8B030D-6E8A-4147-A177-3AD203B41FA5}">
                      <a16:colId xmlns:a16="http://schemas.microsoft.com/office/drawing/2014/main" val="3716702040"/>
                    </a:ext>
                  </a:extLst>
                </a:gridCol>
                <a:gridCol w="8911044">
                  <a:extLst>
                    <a:ext uri="{9D8B030D-6E8A-4147-A177-3AD203B41FA5}">
                      <a16:colId xmlns:a16="http://schemas.microsoft.com/office/drawing/2014/main" val="3407478390"/>
                    </a:ext>
                  </a:extLst>
                </a:gridCol>
              </a:tblGrid>
              <a:tr h="80150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FECF07"/>
                          </a:solidFill>
                        </a:rPr>
                        <a:t>6</a:t>
                      </a:r>
                      <a:endParaRPr lang="en-ID" sz="4800" dirty="0">
                        <a:solidFill>
                          <a:srgbClr val="FECF07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300pt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chemeClr val="tx1"/>
                          </a:solidFill>
                          <a:latin typeface="+mn-lt"/>
                        </a:rPr>
                        <a:t>H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itunglah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ada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berapa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angka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9 yang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terdapat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dari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hitungan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1-100!</a:t>
                      </a: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27905"/>
                  </a:ext>
                </a:extLst>
              </a:tr>
            </a:tbl>
          </a:graphicData>
        </a:graphic>
      </p:graphicFrame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481F0732-9B88-4E1C-8CF5-85191659F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969860"/>
              </p:ext>
            </p:extLst>
          </p:nvPr>
        </p:nvGraphicFramePr>
        <p:xfrm>
          <a:off x="399181" y="5958693"/>
          <a:ext cx="11430000" cy="801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478">
                  <a:extLst>
                    <a:ext uri="{9D8B030D-6E8A-4147-A177-3AD203B41FA5}">
                      <a16:colId xmlns:a16="http://schemas.microsoft.com/office/drawing/2014/main" val="1543962019"/>
                    </a:ext>
                  </a:extLst>
                </a:gridCol>
                <a:gridCol w="1259478">
                  <a:extLst>
                    <a:ext uri="{9D8B030D-6E8A-4147-A177-3AD203B41FA5}">
                      <a16:colId xmlns:a16="http://schemas.microsoft.com/office/drawing/2014/main" val="3716702040"/>
                    </a:ext>
                  </a:extLst>
                </a:gridCol>
                <a:gridCol w="8911044">
                  <a:extLst>
                    <a:ext uri="{9D8B030D-6E8A-4147-A177-3AD203B41FA5}">
                      <a16:colId xmlns:a16="http://schemas.microsoft.com/office/drawing/2014/main" val="3407478390"/>
                    </a:ext>
                  </a:extLst>
                </a:gridCol>
              </a:tblGrid>
              <a:tr h="80150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FECF07"/>
                          </a:solidFill>
                        </a:rPr>
                        <a:t>7</a:t>
                      </a:r>
                      <a:endParaRPr lang="en-ID" sz="4800" dirty="0">
                        <a:solidFill>
                          <a:srgbClr val="FECF07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500pt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Siapakah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nama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atlet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Indonesia era 80-90an yang Namanya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diacak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berikut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300" dirty="0" err="1">
                          <a:solidFill>
                            <a:schemeClr val="tx1"/>
                          </a:solidFill>
                        </a:rPr>
                        <a:t>ini</a:t>
                      </a:r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? “KAMUIDU SANUBAL”</a:t>
                      </a:r>
                      <a:endParaRPr lang="en-ID" sz="23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27905"/>
                  </a:ext>
                </a:extLst>
              </a:tr>
            </a:tbl>
          </a:graphicData>
        </a:graphic>
      </p:graphicFrame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E75590FA-7CCD-4317-A796-45046305C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658847"/>
              </p:ext>
            </p:extLst>
          </p:nvPr>
        </p:nvGraphicFramePr>
        <p:xfrm>
          <a:off x="392324" y="1027703"/>
          <a:ext cx="11430000" cy="113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478">
                  <a:extLst>
                    <a:ext uri="{9D8B030D-6E8A-4147-A177-3AD203B41FA5}">
                      <a16:colId xmlns:a16="http://schemas.microsoft.com/office/drawing/2014/main" val="1543962019"/>
                    </a:ext>
                  </a:extLst>
                </a:gridCol>
                <a:gridCol w="1259478">
                  <a:extLst>
                    <a:ext uri="{9D8B030D-6E8A-4147-A177-3AD203B41FA5}">
                      <a16:colId xmlns:a16="http://schemas.microsoft.com/office/drawing/2014/main" val="3716702040"/>
                    </a:ext>
                  </a:extLst>
                </a:gridCol>
                <a:gridCol w="8911044">
                  <a:extLst>
                    <a:ext uri="{9D8B030D-6E8A-4147-A177-3AD203B41FA5}">
                      <a16:colId xmlns:a16="http://schemas.microsoft.com/office/drawing/2014/main" val="3407478390"/>
                    </a:ext>
                  </a:extLst>
                </a:gridCol>
              </a:tblGrid>
              <a:tr h="80150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solidFill>
                            <a:srgbClr val="FECF07"/>
                          </a:solidFill>
                        </a:rPr>
                        <a:t>2</a:t>
                      </a:r>
                      <a:endParaRPr lang="en-ID" sz="4800" dirty="0">
                        <a:solidFill>
                          <a:srgbClr val="FECF07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800pt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Apakah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Judul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lagu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dari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Legenda Band Rock Indonesia di Era 70 - 80-an yang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diacak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hurufnya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berikut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ini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, dan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nyanyikan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b="1" i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reffrain</a:t>
                      </a:r>
                      <a:r>
                        <a:rPr lang="en-ID" sz="23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(reff)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lagunya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ID" sz="2300" dirty="0" err="1">
                          <a:solidFill>
                            <a:schemeClr val="tx1"/>
                          </a:solidFill>
                          <a:latin typeface="+mn-lt"/>
                        </a:rPr>
                        <a:t>bersama-sama</a:t>
                      </a:r>
                      <a:r>
                        <a:rPr lang="en-ID" sz="2300" dirty="0">
                          <a:solidFill>
                            <a:schemeClr val="tx1"/>
                          </a:solidFill>
                          <a:latin typeface="+mn-lt"/>
                        </a:rPr>
                        <a:t>! “</a:t>
                      </a:r>
                      <a:r>
                        <a:rPr lang="en-ID" sz="2400" dirty="0">
                          <a:solidFill>
                            <a:schemeClr val="tx1"/>
                          </a:solidFill>
                          <a:latin typeface="+mn-lt"/>
                        </a:rPr>
                        <a:t>HATI MARUK”</a:t>
                      </a:r>
                      <a:endParaRPr lang="en-ID" sz="23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34350" marB="34350"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0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27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52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E72F64-7658-49C4-8FA5-3BA1CA5710DA}"/>
              </a:ext>
            </a:extLst>
          </p:cNvPr>
          <p:cNvSpPr txBox="1"/>
          <p:nvPr/>
        </p:nvSpPr>
        <p:spPr>
          <a:xfrm>
            <a:off x="866675" y="492140"/>
            <a:ext cx="104586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TUGAS  FASILITATOR/PENDAMPING: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3200" b="1" dirty="0" err="1">
                <a:solidFill>
                  <a:schemeClr val="bg1"/>
                </a:solidFill>
              </a:rPr>
              <a:t>Mengirimkan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misi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tugas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ke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chatbox</a:t>
            </a:r>
            <a:r>
              <a:rPr lang="en-US" sz="3200" b="1" dirty="0">
                <a:solidFill>
                  <a:schemeClr val="bg1"/>
                </a:solidFill>
              </a:rPr>
              <a:t> / </a:t>
            </a:r>
            <a:r>
              <a:rPr lang="en-US" sz="3200" b="1" dirty="0" err="1">
                <a:solidFill>
                  <a:schemeClr val="bg1"/>
                </a:solidFill>
              </a:rPr>
              <a:t>sharescreen</a:t>
            </a:r>
            <a:endParaRPr lang="en-US" sz="3200" b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3200" b="1" dirty="0" err="1">
                <a:solidFill>
                  <a:schemeClr val="bg1"/>
                </a:solidFill>
              </a:rPr>
              <a:t>Memberikan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semangat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kepada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tim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untuk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segera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menjalankan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misi-misinya</a:t>
            </a:r>
            <a:endParaRPr lang="en-US" sz="3200" b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3200" b="1" dirty="0" err="1">
                <a:solidFill>
                  <a:schemeClr val="bg1"/>
                </a:solidFill>
              </a:rPr>
              <a:t>Dilarang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memberikan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petunjuk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kecuali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jika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ditanya</a:t>
            </a:r>
            <a:r>
              <a:rPr lang="en-ID" sz="3200" b="1" dirty="0">
                <a:solidFill>
                  <a:schemeClr val="bg1"/>
                </a:solidFill>
              </a:rPr>
              <a:t>. Dan </a:t>
            </a:r>
            <a:r>
              <a:rPr lang="en-ID" sz="3200" b="1" dirty="0" err="1">
                <a:solidFill>
                  <a:schemeClr val="bg1"/>
                </a:solidFill>
              </a:rPr>
              <a:t>berikan</a:t>
            </a:r>
            <a:r>
              <a:rPr lang="en-ID" sz="3200" b="1" dirty="0">
                <a:solidFill>
                  <a:schemeClr val="bg1"/>
                </a:solidFill>
              </a:rPr>
              <a:t> </a:t>
            </a:r>
            <a:r>
              <a:rPr lang="en-ID" sz="3200" b="1" dirty="0" err="1">
                <a:solidFill>
                  <a:schemeClr val="bg1"/>
                </a:solidFill>
              </a:rPr>
              <a:t>jawaban</a:t>
            </a:r>
            <a:r>
              <a:rPr lang="en-ID" sz="3200" b="1" dirty="0">
                <a:solidFill>
                  <a:schemeClr val="bg1"/>
                </a:solidFill>
              </a:rPr>
              <a:t> yang normative </a:t>
            </a:r>
            <a:r>
              <a:rPr lang="en-ID" sz="3200" b="1" dirty="0" err="1">
                <a:solidFill>
                  <a:schemeClr val="bg1"/>
                </a:solidFill>
              </a:rPr>
              <a:t>bukan</a:t>
            </a:r>
            <a:r>
              <a:rPr lang="en-ID" sz="3200" b="1" dirty="0">
                <a:solidFill>
                  <a:schemeClr val="bg1"/>
                </a:solidFill>
              </a:rPr>
              <a:t> </a:t>
            </a:r>
            <a:r>
              <a:rPr lang="en-ID" sz="3200" b="1" dirty="0" err="1">
                <a:solidFill>
                  <a:schemeClr val="bg1"/>
                </a:solidFill>
              </a:rPr>
              <a:t>kunci</a:t>
            </a:r>
            <a:r>
              <a:rPr lang="en-ID" sz="3200" b="1" dirty="0">
                <a:solidFill>
                  <a:schemeClr val="bg1"/>
                </a:solidFill>
              </a:rPr>
              <a:t> </a:t>
            </a:r>
            <a:r>
              <a:rPr lang="en-ID" sz="3200" b="1" dirty="0" err="1">
                <a:solidFill>
                  <a:schemeClr val="bg1"/>
                </a:solidFill>
              </a:rPr>
              <a:t>jawabannya</a:t>
            </a:r>
            <a:endParaRPr lang="en-ID" sz="3200" b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D" sz="3200" b="1" dirty="0" err="1">
                <a:solidFill>
                  <a:schemeClr val="bg1"/>
                </a:solidFill>
              </a:rPr>
              <a:t>Mencatat</a:t>
            </a:r>
            <a:r>
              <a:rPr lang="en-ID" sz="3200" b="1" dirty="0">
                <a:solidFill>
                  <a:schemeClr val="bg1"/>
                </a:solidFill>
              </a:rPr>
              <a:t> </a:t>
            </a:r>
            <a:r>
              <a:rPr lang="en-ID" sz="3200" b="1" dirty="0" err="1">
                <a:solidFill>
                  <a:schemeClr val="bg1"/>
                </a:solidFill>
              </a:rPr>
              <a:t>skor</a:t>
            </a:r>
            <a:r>
              <a:rPr lang="en-ID" sz="3200" b="1" dirty="0">
                <a:solidFill>
                  <a:schemeClr val="bg1"/>
                </a:solidFill>
              </a:rPr>
              <a:t> yang </a:t>
            </a:r>
            <a:r>
              <a:rPr lang="en-ID" sz="3200" b="1" dirty="0" err="1">
                <a:solidFill>
                  <a:schemeClr val="bg1"/>
                </a:solidFill>
              </a:rPr>
              <a:t>berhasil</a:t>
            </a:r>
            <a:r>
              <a:rPr lang="en-ID" sz="3200" b="1" dirty="0">
                <a:solidFill>
                  <a:schemeClr val="bg1"/>
                </a:solidFill>
              </a:rPr>
              <a:t> </a:t>
            </a:r>
            <a:r>
              <a:rPr lang="en-ID" sz="3200" b="1" dirty="0" err="1">
                <a:solidFill>
                  <a:schemeClr val="bg1"/>
                </a:solidFill>
              </a:rPr>
              <a:t>diperoleh</a:t>
            </a:r>
            <a:r>
              <a:rPr lang="en-ID" sz="3200" b="1" dirty="0">
                <a:solidFill>
                  <a:schemeClr val="bg1"/>
                </a:solidFill>
              </a:rPr>
              <a:t> </a:t>
            </a:r>
            <a:r>
              <a:rPr lang="en-ID" sz="3200" b="1" dirty="0" err="1">
                <a:solidFill>
                  <a:schemeClr val="bg1"/>
                </a:solidFill>
              </a:rPr>
              <a:t>kelompok</a:t>
            </a:r>
            <a:endParaRPr lang="en-ID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50421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42B0E7C6-1071-483F-A575-9AF7EE1B96AC}" vid="{E18014FF-B132-4F63-9D72-5B85E99D6417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236</Words>
  <Application>Microsoft Office PowerPoint</Application>
  <PresentationFormat>Layar Lebar</PresentationFormat>
  <Paragraphs>39</Paragraphs>
  <Slides>5</Slides>
  <Notes>1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5</vt:i4>
      </vt:variant>
    </vt:vector>
  </HeadingPairs>
  <TitlesOfParts>
    <vt:vector size="10" baseType="lpstr">
      <vt:lpstr>Agency FB</vt:lpstr>
      <vt:lpstr>Aptos</vt:lpstr>
      <vt:lpstr>Arial</vt:lpstr>
      <vt:lpstr>Grandview Display</vt:lpstr>
      <vt:lpstr>DashVTI</vt:lpstr>
      <vt:lpstr>SECRET MISSION</vt:lpstr>
      <vt:lpstr>Purpose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 MISSION</dc:title>
  <dc:creator>izzudin abdurahman</dc:creator>
  <cp:lastModifiedBy>izzudin abdurahman</cp:lastModifiedBy>
  <cp:revision>6</cp:revision>
  <dcterms:created xsi:type="dcterms:W3CDTF">2021-08-11T09:10:07Z</dcterms:created>
  <dcterms:modified xsi:type="dcterms:W3CDTF">2025-11-01T04:17:52Z</dcterms:modified>
</cp:coreProperties>
</file>